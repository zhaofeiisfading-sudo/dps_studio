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通道 1</c:v>
                </c:pt>
              </c:strCache>
            </c:strRef>
          </c:tx>
          <c:spPr>
            <a:solidFill>
              <a:srgbClr val="0F7785"/>
            </a:solidFill>
            <a:ln w="31750" cap="flat">
              <a:solidFill>
                <a:srgbClr val="0F778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F7785"/>
              </a:solidFill>
              <a:ln w="9525" cap="flat">
                <a:solidFill>
                  <a:srgbClr val="0F778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0.003</c:v>
                  </c:pt>
                  <c:pt idx="1">
                    <c:v>0.022</c:v>
                  </c:pt>
                  <c:pt idx="2">
                    <c:v>0.041</c:v>
                  </c:pt>
                  <c:pt idx="3">
                    <c:v>0.060</c:v>
                  </c:pt>
                  <c:pt idx="4">
                    <c:v>0.079</c:v>
                  </c:pt>
                  <c:pt idx="5">
                    <c:v>0.099</c:v>
                  </c:pt>
                  <c:pt idx="6">
                    <c:v>0.118</c:v>
                  </c:pt>
                  <c:pt idx="7">
                    <c:v>0.137</c:v>
                  </c:pt>
                  <c:pt idx="8">
                    <c:v>0.156</c:v>
                  </c:pt>
                  <c:pt idx="9">
                    <c:v>0.175</c:v>
                  </c:pt>
                  <c:pt idx="10">
                    <c:v>0.195</c:v>
                  </c:pt>
                  <c:pt idx="11">
                    <c:v>0.198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537.94</c:v>
                </c:pt>
                <c:pt idx="1">
                  <c:v>558.02</c:v>
                </c:pt>
                <c:pt idx="2">
                  <c:v>569.05</c:v>
                </c:pt>
                <c:pt idx="3">
                  <c:v>571.25</c:v>
                </c:pt>
                <c:pt idx="4">
                  <c:v>563.12</c:v>
                </c:pt>
                <c:pt idx="5">
                  <c:v>565.33</c:v>
                </c:pt>
                <c:pt idx="6">
                  <c:v>566.24</c:v>
                </c:pt>
                <c:pt idx="7">
                  <c:v>563.96</c:v>
                </c:pt>
                <c:pt idx="8">
                  <c:v>563.35</c:v>
                </c:pt>
                <c:pt idx="9">
                  <c:v>563.96</c:v>
                </c:pt>
                <c:pt idx="10">
                  <c:v>564.59</c:v>
                </c:pt>
                <c:pt idx="11">
                  <c:v>564.74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2676D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0"/>
          <c:min val="0"/>
        </c:scaling>
        <c:delete val="0"/>
        <c:axPos val="l"/>
        <c:majorGridlines>
          <c:spPr>
            <a:ln w="6350" cap="flat">
              <a:solidFill>
                <a:srgbClr val="E5E7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2676D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 w="12700" cap="flat">
      <a:solidFill>
        <a:srgbClr val="E5D6D0"/>
      </a:solidFill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Microsoft YaHei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Microsoft YaHei"/>
              </a:rPr>
              <a:t>最近真实运行的描述性谱质量统计（不是正式 SNR）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峰—背景幅值对比度中位数</c:v>
                </c:pt>
              </c:strCache>
            </c:strRef>
          </c:tx>
          <c:spPr>
            <a:solidFill>
              <a:srgbClr val="B4231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0212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Balanced
通道1</c:v>
                  </c:pt>
                  <c:pt idx="1">
                    <c:v>Balanced
通道2</c:v>
                  </c:pt>
                  <c:pt idx="2">
                    <c:v>High time
通道1</c:v>
                  </c:pt>
                  <c:pt idx="3">
                    <c:v>High time
通道2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52.5</c:v>
                </c:pt>
                <c:pt idx="1">
                  <c:v>55.8</c:v>
                </c:pt>
                <c:pt idx="2">
                  <c:v>48.1</c:v>
                </c:pt>
                <c:pt idx="3">
                  <c:v>51.1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峰—竞争峰幅值对比度中位数</c:v>
                </c:pt>
              </c:strCache>
            </c:strRef>
          </c:tx>
          <c:spPr>
            <a:solidFill>
              <a:srgbClr val="0F7785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0212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Balanced
通道1</c:v>
                  </c:pt>
                  <c:pt idx="1">
                    <c:v>Balanced
通道2</c:v>
                  </c:pt>
                  <c:pt idx="2">
                    <c:v>High time
通道1</c:v>
                  </c:pt>
                  <c:pt idx="3">
                    <c:v>High time
通道2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13.3</c:v>
                </c:pt>
                <c:pt idx="1">
                  <c:v>19.9</c:v>
                </c:pt>
                <c:pt idx="2">
                  <c:v>13.3</c:v>
                </c:pt>
                <c:pt idx="3">
                  <c:v>19.9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20212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5"/>
          <c:min val="0"/>
        </c:scaling>
        <c:delete val="0"/>
        <c:axPos val="l"/>
        <c:majorGridlines>
          <c:spPr>
            <a:ln w="6350" cap="flat">
              <a:solidFill>
                <a:srgbClr val="E2E4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 w="12700" cap="flat">
      <a:solidFill>
        <a:srgbClr val="E5D6D0"/>
      </a:solidFill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通道 1</c:v>
                </c:pt>
              </c:strCache>
            </c:strRef>
          </c:tx>
          <c:spPr>
            <a:solidFill>
              <a:srgbClr val="0F7785"/>
            </a:solidFill>
            <a:ln w="31750" cap="flat">
              <a:solidFill>
                <a:srgbClr val="0F778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F7785"/>
              </a:solidFill>
              <a:ln w="9525" cap="flat">
                <a:solidFill>
                  <a:srgbClr val="0F778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0.003</c:v>
                  </c:pt>
                  <c:pt idx="1">
                    <c:v>0.022</c:v>
                  </c:pt>
                  <c:pt idx="2">
                    <c:v>0.041</c:v>
                  </c:pt>
                  <c:pt idx="3">
                    <c:v>0.060</c:v>
                  </c:pt>
                  <c:pt idx="4">
                    <c:v>0.079</c:v>
                  </c:pt>
                  <c:pt idx="5">
                    <c:v>0.099</c:v>
                  </c:pt>
                  <c:pt idx="6">
                    <c:v>0.118</c:v>
                  </c:pt>
                  <c:pt idx="7">
                    <c:v>0.137</c:v>
                  </c:pt>
                  <c:pt idx="8">
                    <c:v>0.156</c:v>
                  </c:pt>
                  <c:pt idx="9">
                    <c:v>0.175</c:v>
                  </c:pt>
                  <c:pt idx="10">
                    <c:v>0.195</c:v>
                  </c:pt>
                  <c:pt idx="11">
                    <c:v>0.198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537.94</c:v>
                </c:pt>
                <c:pt idx="1">
                  <c:v>558.02</c:v>
                </c:pt>
                <c:pt idx="2">
                  <c:v>569.05</c:v>
                </c:pt>
                <c:pt idx="3">
                  <c:v>571.25</c:v>
                </c:pt>
                <c:pt idx="4">
                  <c:v>563.12</c:v>
                </c:pt>
                <c:pt idx="5">
                  <c:v>565.33</c:v>
                </c:pt>
                <c:pt idx="6">
                  <c:v>566.24</c:v>
                </c:pt>
                <c:pt idx="7">
                  <c:v>563.96</c:v>
                </c:pt>
                <c:pt idx="8">
                  <c:v>563.35</c:v>
                </c:pt>
                <c:pt idx="9">
                  <c:v>563.96</c:v>
                </c:pt>
                <c:pt idx="10">
                  <c:v>564.59</c:v>
                </c:pt>
                <c:pt idx="11">
                  <c:v>564.74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2676D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0"/>
          <c:min val="0"/>
        </c:scaling>
        <c:delete val="0"/>
        <c:axPos val="l"/>
        <c:majorGridlines>
          <c:spPr>
            <a:ln w="6350" cap="flat">
              <a:solidFill>
                <a:srgbClr val="E5E7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2676D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 w="12700" cap="flat">
      <a:solidFill>
        <a:srgbClr val="E5D6D0"/>
      </a:solidFill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通道 2</c:v>
                </c:pt>
              </c:strCache>
            </c:strRef>
          </c:tx>
          <c:spPr>
            <a:solidFill>
              <a:srgbClr val="0F7785"/>
            </a:solidFill>
            <a:ln w="31750" cap="flat">
              <a:solidFill>
                <a:srgbClr val="0F778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F7785"/>
              </a:solidFill>
              <a:ln w="9525" cap="flat">
                <a:solidFill>
                  <a:srgbClr val="0F778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0.003</c:v>
                  </c:pt>
                  <c:pt idx="1">
                    <c:v>0.022</c:v>
                  </c:pt>
                  <c:pt idx="2">
                    <c:v>0.041</c:v>
                  </c:pt>
                  <c:pt idx="3">
                    <c:v>0.060</c:v>
                  </c:pt>
                  <c:pt idx="4">
                    <c:v>0.079</c:v>
                  </c:pt>
                  <c:pt idx="5">
                    <c:v>0.099</c:v>
                  </c:pt>
                  <c:pt idx="6">
                    <c:v>0.118</c:v>
                  </c:pt>
                  <c:pt idx="7">
                    <c:v>0.137</c:v>
                  </c:pt>
                  <c:pt idx="8">
                    <c:v>0.156</c:v>
                  </c:pt>
                  <c:pt idx="9">
                    <c:v>0.175</c:v>
                  </c:pt>
                  <c:pt idx="10">
                    <c:v>0.195</c:v>
                  </c:pt>
                  <c:pt idx="11">
                    <c:v>0.198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531.83</c:v>
                </c:pt>
                <c:pt idx="1">
                  <c:v>557.83</c:v>
                </c:pt>
                <c:pt idx="2">
                  <c:v>569.11</c:v>
                </c:pt>
                <c:pt idx="3">
                  <c:v>571.2</c:v>
                </c:pt>
                <c:pt idx="4">
                  <c:v>563.09</c:v>
                </c:pt>
                <c:pt idx="5">
                  <c:v>565.27</c:v>
                </c:pt>
                <c:pt idx="6">
                  <c:v>566.19</c:v>
                </c:pt>
                <c:pt idx="7">
                  <c:v>563.94</c:v>
                </c:pt>
                <c:pt idx="8">
                  <c:v>563.31</c:v>
                </c:pt>
                <c:pt idx="9">
                  <c:v>564</c:v>
                </c:pt>
                <c:pt idx="10">
                  <c:v>564.61</c:v>
                </c:pt>
                <c:pt idx="11">
                  <c:v>564.73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2676D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0"/>
          <c:min val="0"/>
        </c:scaling>
        <c:delete val="0"/>
        <c:axPos val="l"/>
        <c:majorGridlines>
          <c:spPr>
            <a:ln w="6350" cap="flat">
              <a:solidFill>
                <a:srgbClr val="E5E7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2676D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 w="12700" cap="flat">
      <a:solidFill>
        <a:srgbClr val="E5D6D0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今天汇报的是 DPS Studio 当前的开发进展。这里先把边界说清楚：它已经是一条可以在真实数据上运行的 PDV 数值分析工作流，但还不是完成发布的 GUI 软件。本次重点不是逐项报 TASK，而是回答三件事：为什么要重建、当前链路已经验证到哪里、下一阶段怎样把“能运行”推进到“结果可信”。
---
注意点：
- 重点：不要使用“软件已经完成”的表述。
- 节奏：封面停留约 20 秒，直接进入实验链路。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实验记录首先是两个电压通道随时间变化的原始序列。我们真正关心的是拍频如何演化，以及由此得到的速度历史。软件处在两者之间：先把时变拍频显现为时频脊线，再把脊线换算为表观速度。任何谱线选择错误都会传递到起跳、平台和加载过程的判断，所以质量控制不是附加项，而是物理解释之前必须经过的闸门。
---
注意点：
- 画面引导：从左向右依次讲四个阶段。
- 补充：当前正式结果只到无符号表观速度。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仓库里的旧软件速度文件可以帮助我们做回归比较，但项目文档明确要求把它当作“输出指纹”，不能当物理真值。原因是现有参考只保留曲线和有限标记，没有完整保存波长、窗长、搜索范围、谱证据和人工选择。如果这些信息不可追溯，一条连续的曲线也可能跟踪了错误分支，却没有足够证据让我们回查。
---
注意点：
- 重点：不要扩展成对旧软件稳定性或技术栈的无依据批评。
- 画面引导：先看缺失证据，再看右侧后果。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选择 Python 的目的不是做语言优劣比较，而是让数值计算、配置、测试和未来界面共享同一套核心 API。NumPy 和 SciPy负责数组计算与 STFT，Matplotlib 负责当前可复现输出，PySide6 和 PyQtGraph 为未来桌面交互预留。更关键的是，当前工作树能用 pytest、Ruff 和 mypy形成自动质量门，本轮实测为 271 项测试通过，Ruff 通过，39 个源文件的 mypy 检查通过。
---
注意点：
- 补充：PyInstaller 已列入开发依赖，但没有完成跨机器部署验证。
- 节奏：数字只讲一次，不在后页重复测试细节。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给出整个项目的地图。红色部分已经连通：只读输入、STFT、峰脊线、三点亚频点精修、无符号表观速度、描述性质量和非覆盖输出。橙色部分是正在完善的可信决策。灰色虚线部分则必须明确保持未实现状态，包括 LiF 修正、corrected velocity、有符号速度、自动通道融合和 GUI。这样的隔离可以避免计划能力被误写成已有能力。
---
注意点：
- 重点：LiF 修正前的隔离闸门。
- 过渡：下一页从链路最左端的输入安全开始。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右侧是真实原始文件在事件附近的两个电压通道。两个量程幅值不同，所以从读取开始就分别构造 SignalRecord，不做电压平均。时间列和电压列写在单一 TOML 配置中，内部统一使用秒、伏特和赫兹。数据模型复制并保护数组，真实运行记录源文件 SHA-256；遇到非均匀采样或无效结果时保留状态，不通过插值、平滑或删点把问题藏起来。
---
注意点：
- 画面引导：先看两个通道幅值不同，再解释为什么不能输入层平均。
- 补充：图只截取显示窗口，数据本身未处理。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单次整体傅里叶变换只能告诉我们有哪些频率，不能告诉我们频率何时发生变化。STFT 用滑动 Hann 窗得到二维时频图。当前 Balanced 参数是窗长 768、hop 128、NFFT 4096；在这份数据上对应约 19.2 ns 的时间支持和约 3.2 ns 的帧步。需要强调，NFFT 加密的是频率网格，不等于单独提高真实分辨能力。白线只是候选拍频轨迹，还不是速度。
---
注意点：
- 画面引导：先看事件前后，再沿白色脊线看平台和下降。
- 重点：搜索 0.05–2.0 GHz；完整单边谱到实际 Nyquist。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每个时间帧先在闭搜索带中取最大谱峰，再用三点对数幅值插值细化频率。之后按 v 等于 λ 乘 f 再除以 2 换算表观速度。右图是当前真实输出，其中起跳前零值和中间桥接都明确标成显示假设，不是测量数据。更重要的是，配置中的 1.55 微米目前仍是未由实验记录确认的演示值，所以这条曲线只能叫无符号表观速度，不能称为 LiF 修正后的真实界面速度。
---
注意点：
- 重点：apparent 与 corrected 必须分开保存。
- 补充：精修失败保持 NaN 和状态，不回退为看似连续的数值。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当前两个通道分别完成整条数值链，既不平均原始电压，也不融合结果。图中比较的是峰相对背景和竞争峰的幅值对比度中位数。通道 2 在这一次数据上数值较高，但这只能作为当前谱结构的描述，不能自动推出通道 2 更可信。这里的 dB 没有完整噪声模型、带宽归一化和实验标定，因此不能称为正式 SNR，也没有 GOOD 或 BAD 的自动阈值。
---
注意点：
- 画面引导：先读图标题“不是正式 SNR”，再比较四组柱。
- 重点：质量量不会删除、平滑或修改脊线。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当前正式依赖方向已经收口为脚本入口读取 TOML，production 层负责落盘和绘图，core.workflow 调用 IO、STFT、ridge 和 physics。core 不依赖 scripts、Matplotlib 或 GUI，所以数值算法可以在没有界面的情况下独立测试。GUI 目录现在仍是占位，未来只能调用 core 公共接口。与此同时，manifest 会记录配置、源哈希、Git 状态和实际生成文件，使结果能够回到当时的运行条件。
---
注意点：
- 画面引导：从上到下讲依赖，再看侧边灰色 GUI。
- 补充：包 CLI 当前仍只有版本参数。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当前工作树已经形成双 Profile、双通道的生产运行闭环，并有真实产物和自动质量门。这里的三个数字分别是本轮 271 项测试、mypy 检查的 39 个源文件，以及最近一次生产运行的 30 个文件。必须同时看到页面底部的版本边界：这些能力来自 dirty worktree，部分 workflow、配置和测试仍未提交，因此可以说“当前工作树已实现”，不能说“已经发布稳定版本”。
---
注意点：
- 重点：工程质量门通过，不等于科研级验证完成。
- 过渡：下一页看最近真实运行具体给出了什么。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两张图来自同一次 Balanced 运行，分别对应两个采集通道。每个通道有 244 个候选帧完成精修，首候选表观速度约为 538 和 532 米每秒，候选最低值都在 212 米每秒附近。这个接近程度可以作为重复性线索，但不能当作物理准确度证明，因为波长未确认，质量阈值和通道选择规则也尚未建立。两张图仍然是并列证据，而不是融合结果。
---
注意点：
- 画面引导：先比较起始值，再比较平台，不逐点解读。
- 补充：真实 run 记录 `git_worktree_dirty=true`。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基础闭环已经解决了“能不能跑”的问题，但科研使用更关心“是不是跟踪了正确谱线”。当前提取器仍是逐帧最大峰，没有最大跳频、动态规划或连续性约束；质量量也没有正式阈值。波长与 LiF 模型未确认，全时段 preview 未经过正式质量门。产品层面，GUI、完整 CLI、集成测试和跨机器部署也还没有完成。这些缺口共同决定了下一阶段的优先级。
---
注意点：
- 重点：左侧“已建立”和右侧“未完成”都要讲，避免全盘否定。
- 节奏：每个缺口一句话，不展开细节。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下一阶段先走非 AI 主线：把频率搜索范围、连续性和物理先验显式化，建立起跳、平台和弱信号的可验证判据。双通道决策要先积累证据和验收数据，再标定阈值。只有在实验波长、窗口材料和模型适用条件确认后，才能接入独立的 corrected velocity。等数值链稳定后，再把完整 CLI、GUI、打包和用户测试串起来。AI 最多作为后期辅助识别，不能直接生成最终速度。
---
注意点：
- 画面引导：沿五阶段主线讲，最后指出上方 AI 虚线支路。
- 重点：每一阶段都有自动测试和验收标准。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目前已经有双通道、双 Profile、正式 core workflow 和真实 production 输出，基础分析闭环已经建立。现在真正需要解决的是可信谱线、双通道质量决策，以及波长和 LiF 模型的实验验证。数值链稳定后，再推进 CLI、GUI、打包和用户验收。希望今天重点讨论的不是还能增加哪些功能，而是哪些证据足以让一条速度曲线真正可信。请老师批评指正。
---
注意点：
- 重点：三个关键词按“可信 → 可复现 → 可交付”收束。
- 节奏：结尾停顿，进入讨论。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" y="438912"/>
            <a:ext cx="5897880" cy="4160520"/>
          </a:xfrm>
          <a:prstGeom prst="roundRect">
            <a:avLst>
              <a:gd name="adj" fmla="val 3297"/>
            </a:avLst>
          </a:prstGeom>
          <a:solidFill>
            <a:srgbClr val="8E1B10"/>
          </a:solidFill>
          <a:ln w="12700">
            <a:solidFill>
              <a:srgbClr val="8E1B1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1051560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DPS Studio：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38912" y="1572768"/>
            <a:ext cx="466344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从原始 PDV 信号到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可追溯的表观速度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457200" y="289864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CED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面向冲击波实验的 PDV 数据分析软件开发进展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5204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课题组组会｜开发进展与下一阶段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3977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6D9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2026年7月25日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138160" y="137160"/>
            <a:ext cx="731520" cy="502920"/>
          </a:xfrm>
          <a:prstGeom prst="chevron">
            <a:avLst/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5943600" y="1813209"/>
            <a:ext cx="76200" cy="244191"/>
          </a:xfrm>
          <a:prstGeom prst="line">
            <a:avLst/>
          </a:prstGeom>
          <a:noFill/>
          <a:ln w="22860">
            <a:solidFill>
              <a:srgbClr val="D2A09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6019800" y="1690231"/>
            <a:ext cx="76200" cy="122978"/>
          </a:xfrm>
          <a:prstGeom prst="line">
            <a:avLst/>
          </a:prstGeom>
          <a:noFill/>
          <a:ln w="22860">
            <a:solidFill>
              <a:srgbClr val="D2A09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96000" y="1690231"/>
            <a:ext cx="76200" cy="59281"/>
          </a:xfrm>
          <a:prstGeom prst="line">
            <a:avLst/>
          </a:prstGeom>
          <a:noFill/>
          <a:ln w="22860">
            <a:solidFill>
              <a:srgbClr val="D2A09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1749512"/>
            <a:ext cx="76200" cy="212113"/>
          </a:xfrm>
          <a:prstGeom prst="line">
            <a:avLst/>
          </a:prstGeom>
          <a:noFill/>
          <a:ln w="22860">
            <a:solidFill>
              <a:srgbClr val="D2A09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48400" y="1961625"/>
            <a:ext cx="76200" cy="259655"/>
          </a:xfrm>
          <a:prstGeom prst="line">
            <a:avLst/>
          </a:prstGeom>
          <a:noFill/>
          <a:ln w="22860">
            <a:solidFill>
              <a:srgbClr val="D2A09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24600" y="2221279"/>
            <a:ext cx="76200" cy="178307"/>
          </a:xfrm>
          <a:prstGeom prst="line">
            <a:avLst/>
          </a:prstGeom>
          <a:noFill/>
          <a:ln w="22860">
            <a:solidFill>
              <a:srgbClr val="D2A09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2399586"/>
            <a:ext cx="76200" cy="8449"/>
          </a:xfrm>
          <a:prstGeom prst="line">
            <a:avLst/>
          </a:prstGeom>
          <a:noFill/>
          <a:ln w="22860">
            <a:solidFill>
              <a:srgbClr val="D2A09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6477000" y="2242433"/>
            <a:ext cx="76200" cy="165602"/>
          </a:xfrm>
          <a:prstGeom prst="line">
            <a:avLst/>
          </a:prstGeom>
          <a:noFill/>
          <a:ln w="22860">
            <a:solidFill>
              <a:srgbClr val="D2A09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6553200" y="1984983"/>
            <a:ext cx="76200" cy="257451"/>
          </a:xfrm>
          <a:prstGeom prst="line">
            <a:avLst/>
          </a:prstGeom>
          <a:noFill/>
          <a:ln w="22860">
            <a:solidFill>
              <a:srgbClr val="D2A09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6629400" y="1763479"/>
            <a:ext cx="76200" cy="221503"/>
          </a:xfrm>
          <a:prstGeom prst="line">
            <a:avLst/>
          </a:prstGeom>
          <a:noFill/>
          <a:ln w="22860">
            <a:solidFill>
              <a:srgbClr val="D2A09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6705600" y="1687875"/>
            <a:ext cx="76200" cy="75605"/>
          </a:xfrm>
          <a:prstGeom prst="line">
            <a:avLst/>
          </a:prstGeom>
          <a:noFill/>
          <a:ln w="22860">
            <a:solidFill>
              <a:srgbClr val="D2A09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81800" y="1687875"/>
            <a:ext cx="76200" cy="107823"/>
          </a:xfrm>
          <a:prstGeom prst="line">
            <a:avLst/>
          </a:prstGeom>
          <a:noFill/>
          <a:ln w="22860">
            <a:solidFill>
              <a:srgbClr val="D2A09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0" y="1795698"/>
            <a:ext cx="76200" cy="237729"/>
          </a:xfrm>
          <a:prstGeom prst="line">
            <a:avLst/>
          </a:prstGeom>
          <a:noFill/>
          <a:ln w="22860">
            <a:solidFill>
              <a:srgbClr val="D2A09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34200" y="2033427"/>
            <a:ext cx="76200" cy="249629"/>
          </a:xfrm>
          <a:prstGeom prst="line">
            <a:avLst/>
          </a:prstGeom>
          <a:noFill/>
          <a:ln w="22860">
            <a:solidFill>
              <a:srgbClr val="D2A09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10400" y="2283056"/>
            <a:ext cx="76200" cy="137616"/>
          </a:xfrm>
          <a:prstGeom prst="line">
            <a:avLst/>
          </a:prstGeom>
          <a:noFill/>
          <a:ln w="22860">
            <a:solidFill>
              <a:srgbClr val="D2A09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7086600" y="2377964"/>
            <a:ext cx="76200" cy="42708"/>
          </a:xfrm>
          <a:prstGeom prst="line">
            <a:avLst/>
          </a:prstGeom>
          <a:noFill/>
          <a:ln w="22860">
            <a:solidFill>
              <a:srgbClr val="D2A09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7162800" y="2176131"/>
            <a:ext cx="76200" cy="201833"/>
          </a:xfrm>
          <a:prstGeom prst="line">
            <a:avLst/>
          </a:prstGeom>
          <a:noFill/>
          <a:ln w="22860">
            <a:solidFill>
              <a:srgbClr val="D2A09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7239000" y="1915362"/>
            <a:ext cx="76200" cy="260769"/>
          </a:xfrm>
          <a:prstGeom prst="line">
            <a:avLst/>
          </a:prstGeom>
          <a:noFill/>
          <a:ln w="22860">
            <a:solidFill>
              <a:srgbClr val="D2A09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7315200" y="1725099"/>
            <a:ext cx="76200" cy="190263"/>
          </a:xfrm>
          <a:prstGeom prst="line">
            <a:avLst/>
          </a:prstGeom>
          <a:noFill/>
          <a:ln w="22860">
            <a:solidFill>
              <a:srgbClr val="D2A09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7391400" y="1699786"/>
            <a:ext cx="76200" cy="25313"/>
          </a:xfrm>
          <a:prstGeom prst="line">
            <a:avLst/>
          </a:prstGeom>
          <a:noFill/>
          <a:ln w="22860">
            <a:solidFill>
              <a:srgbClr val="D2A09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67600" y="1699786"/>
            <a:ext cx="76200" cy="152203"/>
          </a:xfrm>
          <a:prstGeom prst="line">
            <a:avLst/>
          </a:prstGeom>
          <a:noFill/>
          <a:ln w="22860">
            <a:solidFill>
              <a:srgbClr val="D2A09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43800" y="1851989"/>
            <a:ext cx="76200" cy="254167"/>
          </a:xfrm>
          <a:prstGeom prst="line">
            <a:avLst/>
          </a:prstGeom>
          <a:noFill/>
          <a:ln w="22860">
            <a:solidFill>
              <a:srgbClr val="D2A09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20000" y="2106155"/>
            <a:ext cx="76200" cy="229965"/>
          </a:xfrm>
          <a:prstGeom prst="line">
            <a:avLst/>
          </a:prstGeom>
          <a:noFill/>
          <a:ln w="22860">
            <a:solidFill>
              <a:srgbClr val="D2A09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696200" y="2336120"/>
            <a:ext cx="76200" cy="91611"/>
          </a:xfrm>
          <a:prstGeom prst="line">
            <a:avLst/>
          </a:prstGeom>
          <a:noFill/>
          <a:ln w="22860">
            <a:solidFill>
              <a:srgbClr val="D2A09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7772400" y="2335515"/>
            <a:ext cx="76200" cy="92217"/>
          </a:xfrm>
          <a:prstGeom prst="line">
            <a:avLst/>
          </a:prstGeom>
          <a:noFill/>
          <a:ln w="22860">
            <a:solidFill>
              <a:srgbClr val="D2A09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V="1">
            <a:off x="7848600" y="2105245"/>
            <a:ext cx="76200" cy="230270"/>
          </a:xfrm>
          <a:prstGeom prst="line">
            <a:avLst/>
          </a:prstGeom>
          <a:noFill/>
          <a:ln w="22860">
            <a:solidFill>
              <a:srgbClr val="D2A09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V="1">
            <a:off x="7924800" y="1851225"/>
            <a:ext cx="76200" cy="254020"/>
          </a:xfrm>
          <a:prstGeom prst="line">
            <a:avLst/>
          </a:prstGeom>
          <a:noFill/>
          <a:ln w="22860">
            <a:solidFill>
              <a:srgbClr val="D2A09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8001000" y="1699548"/>
            <a:ext cx="76200" cy="151677"/>
          </a:xfrm>
          <a:prstGeom prst="line">
            <a:avLst/>
          </a:prstGeom>
          <a:noFill/>
          <a:ln w="22860">
            <a:solidFill>
              <a:srgbClr val="D2A09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77200" y="1699548"/>
            <a:ext cx="76200" cy="25957"/>
          </a:xfrm>
          <a:prstGeom prst="line">
            <a:avLst/>
          </a:prstGeom>
          <a:noFill/>
          <a:ln w="22860">
            <a:solidFill>
              <a:srgbClr val="D2A09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153400" y="1725505"/>
            <a:ext cx="76200" cy="190706"/>
          </a:xfrm>
          <a:prstGeom prst="line">
            <a:avLst/>
          </a:prstGeom>
          <a:noFill/>
          <a:ln w="22860">
            <a:solidFill>
              <a:srgbClr val="D2A09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29600" y="1916211"/>
            <a:ext cx="76200" cy="260790"/>
          </a:xfrm>
          <a:prstGeom prst="line">
            <a:avLst/>
          </a:prstGeom>
          <a:noFill/>
          <a:ln w="22860">
            <a:solidFill>
              <a:srgbClr val="D2A09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305800" y="2177001"/>
            <a:ext cx="76200" cy="201422"/>
          </a:xfrm>
          <a:prstGeom prst="line">
            <a:avLst/>
          </a:prstGeom>
          <a:noFill/>
          <a:ln w="22860">
            <a:solidFill>
              <a:srgbClr val="D2A09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382000" y="2378423"/>
            <a:ext cx="76200" cy="42070"/>
          </a:xfrm>
          <a:prstGeom prst="line">
            <a:avLst/>
          </a:prstGeom>
          <a:noFill/>
          <a:ln w="22860">
            <a:solidFill>
              <a:srgbClr val="D2A09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8458200" y="2282327"/>
            <a:ext cx="76200" cy="138165"/>
          </a:xfrm>
          <a:prstGeom prst="line">
            <a:avLst/>
          </a:prstGeom>
          <a:noFill/>
          <a:ln w="22860">
            <a:solidFill>
              <a:srgbClr val="D2A09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V="1">
            <a:off x="8534400" y="2032511"/>
            <a:ext cx="76200" cy="249817"/>
          </a:xfrm>
          <a:prstGeom prst="line">
            <a:avLst/>
          </a:prstGeom>
          <a:noFill/>
          <a:ln w="22860">
            <a:solidFill>
              <a:srgbClr val="D2A09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V="1">
            <a:off x="8610600" y="1795049"/>
            <a:ext cx="76200" cy="237462"/>
          </a:xfrm>
          <a:prstGeom prst="line">
            <a:avLst/>
          </a:prstGeom>
          <a:noFill/>
          <a:ln w="22860">
            <a:solidFill>
              <a:srgbClr val="D2A09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498080" y="1911096"/>
            <a:ext cx="146304" cy="146304"/>
          </a:xfrm>
          <a:prstGeom prst="ellipse">
            <a:avLst/>
          </a:prstGeom>
          <a:solidFill>
            <a:srgbClr val="B4231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62472" y="3054096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可追溯 · 可验证 · 可交付</a:t>
            </a:r>
            <a:endParaRPr lang="en-US" sz="1700" dirty="0"/>
          </a:p>
        </p:txBody>
      </p:sp>
      <p:sp>
        <p:nvSpPr>
          <p:cNvPr id="47" name="Text 45"/>
          <p:cNvSpPr/>
          <p:nvPr/>
        </p:nvSpPr>
        <p:spPr>
          <a:xfrm>
            <a:off x="6172200" y="3566160"/>
            <a:ext cx="2423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当前是可运行的数值分析工作流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尚不是完成发布的 GUI 软件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01168"/>
            <a:ext cx="100584" cy="393192"/>
          </a:xfrm>
          <a:prstGeom prst="roundRect">
            <a:avLst>
              <a:gd name="adj" fmla="val 36364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92024"/>
            <a:ext cx="7973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速度曲线连接实验信号与后续物理判断</a:t>
            </a:r>
            <a:endParaRPr lang="en-US" sz="2450" dirty="0"/>
          </a:p>
        </p:txBody>
      </p:sp>
      <p:sp>
        <p:nvSpPr>
          <p:cNvPr id="5" name="Shape 3"/>
          <p:cNvSpPr/>
          <p:nvPr/>
        </p:nvSpPr>
        <p:spPr>
          <a:xfrm>
            <a:off x="8641080" y="128016"/>
            <a:ext cx="384048" cy="493776"/>
          </a:xfrm>
          <a:prstGeom prst="chevron">
            <a:avLst/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13648" y="4828032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30352" y="1115568"/>
            <a:ext cx="384048" cy="384048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12471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" y="1481328"/>
            <a:ext cx="1874520" cy="205740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  <a:effectLst>
            <a:outerShdw sx="100000" sy="100000" kx="0" ky="0" algn="bl" rotWithShape="0" blurRad="25400" dist="12700" dir="2700000">
              <a:srgbClr val="7B5E55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66928" y="1627632"/>
            <a:ext cx="64008" cy="1764792"/>
          </a:xfrm>
          <a:prstGeom prst="roundRect">
            <a:avLst>
              <a:gd name="adj" fmla="val 4285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609344"/>
            <a:ext cx="1435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实验信号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1947672"/>
            <a:ext cx="143560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双通道时间—电压序列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340864" y="2487168"/>
            <a:ext cx="265176" cy="914"/>
          </a:xfrm>
          <a:prstGeom prst="line">
            <a:avLst/>
          </a:prstGeom>
          <a:noFill/>
          <a:ln w="2286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706624" y="1115568"/>
            <a:ext cx="384048" cy="384048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06624" y="112471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615184" y="1481328"/>
            <a:ext cx="1874520" cy="205740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  <a:effectLst>
            <a:outerShdw sx="100000" sy="100000" kx="0" ky="0" algn="bl" rotWithShape="0" blurRad="25400" dist="12700" dir="2700000">
              <a:srgbClr val="7B5E55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0" y="1627632"/>
            <a:ext cx="64008" cy="1764792"/>
          </a:xfrm>
          <a:prstGeom prst="roundRect">
            <a:avLst>
              <a:gd name="adj" fmla="val 4285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07792" y="1609344"/>
            <a:ext cx="1435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拍频脊线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907792" y="1947672"/>
            <a:ext cx="143560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STFT 能量与谱峰轨迹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17136" y="2487168"/>
            <a:ext cx="265176" cy="914"/>
          </a:xfrm>
          <a:prstGeom prst="line">
            <a:avLst/>
          </a:prstGeom>
          <a:noFill/>
          <a:ln w="2286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882896" y="1115568"/>
            <a:ext cx="384048" cy="384048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82896" y="112471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91456" y="1481328"/>
            <a:ext cx="1874520" cy="205740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  <a:effectLst>
            <a:outerShdw sx="100000" sy="100000" kx="0" ky="0" algn="bl" rotWithShape="0" blurRad="25400" dist="12700" dir="2700000">
              <a:srgbClr val="7B5E55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19472" y="1627632"/>
            <a:ext cx="64008" cy="1764792"/>
          </a:xfrm>
          <a:prstGeom prst="roundRect">
            <a:avLst>
              <a:gd name="adj" fmla="val 42857"/>
            </a:avLst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84064" y="1609344"/>
            <a:ext cx="1435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表观速度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084064" y="1947672"/>
            <a:ext cx="143560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显式波长换算，无符号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693408" y="2487168"/>
            <a:ext cx="265176" cy="914"/>
          </a:xfrm>
          <a:prstGeom prst="line">
            <a:avLst/>
          </a:prstGeom>
          <a:noFill/>
          <a:ln w="2286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059168" y="1115568"/>
            <a:ext cx="384048" cy="384048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59168" y="112471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967728" y="1481328"/>
            <a:ext cx="1874520" cy="2057400"/>
          </a:xfrm>
          <a:prstGeom prst="roundRect">
            <a:avLst>
              <a:gd name="adj" fmla="val 3902"/>
            </a:avLst>
          </a:prstGeom>
          <a:solidFill>
            <a:srgbClr val="F6F1EE"/>
          </a:solidFill>
          <a:ln w="12700">
            <a:solidFill>
              <a:srgbClr val="E5D6D0"/>
            </a:solidFill>
            <a:prstDash val="solid"/>
          </a:ln>
          <a:effectLst>
            <a:outerShdw sx="100000" sy="100000" kx="0" ky="0" algn="bl" rotWithShape="0" blurRad="25400" dist="12700" dir="2700000">
              <a:srgbClr val="7B5E55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095744" y="1627632"/>
            <a:ext cx="64008" cy="1764792"/>
          </a:xfrm>
          <a:prstGeom prst="roundRect">
            <a:avLst>
              <a:gd name="adj" fmla="val 4285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60336" y="1609344"/>
            <a:ext cx="1435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物理分析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260336" y="1947672"/>
            <a:ext cx="143560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质量判断与修正后解释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529584" y="3035808"/>
            <a:ext cx="2084832" cy="347472"/>
          </a:xfrm>
          <a:prstGeom prst="roundRect">
            <a:avLst>
              <a:gd name="adj" fmla="val 26316"/>
            </a:avLst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29584" y="3044952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 / 修正闸门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02920" y="3886200"/>
            <a:ext cx="8138160" cy="640080"/>
          </a:xfrm>
          <a:prstGeom prst="roundRect">
            <a:avLst>
              <a:gd name="adj" fmla="val 11429"/>
            </a:avLst>
          </a:prstGeom>
          <a:solidFill>
            <a:srgbClr val="F7E7E2"/>
          </a:solidFill>
          <a:ln w="12700">
            <a:solidFill>
              <a:srgbClr val="F7E7E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7512" y="3959352"/>
            <a:ext cx="685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关键结论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463040" y="3959352"/>
            <a:ext cx="70134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软件是实验信号与物理判断之间的关键桥梁；只有跨过质量与物理修正闸门，结果才具备进一步解释的基础。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01168"/>
            <a:ext cx="100584" cy="393192"/>
          </a:xfrm>
          <a:prstGeom prst="roundRect">
            <a:avLst>
              <a:gd name="adj" fmla="val 36364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92024"/>
            <a:ext cx="7973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旧流程的核心风险不是界面陈旧，而是证据链不完整</a:t>
            </a:r>
            <a:endParaRPr lang="en-US" sz="2450" dirty="0"/>
          </a:p>
        </p:txBody>
      </p:sp>
      <p:sp>
        <p:nvSpPr>
          <p:cNvPr id="5" name="Shape 3"/>
          <p:cNvSpPr/>
          <p:nvPr/>
        </p:nvSpPr>
        <p:spPr>
          <a:xfrm>
            <a:off x="8641080" y="128016"/>
            <a:ext cx="384048" cy="493776"/>
          </a:xfrm>
          <a:prstGeom prst="chevron">
            <a:avLst/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13648" y="4828032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1115568"/>
            <a:ext cx="2240280" cy="310896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  <a:effectLst>
            <a:outerShdw sx="100000" sy="100000" kx="0" ky="0" algn="bl" rotWithShape="0" blurRad="25400" dist="12700" dir="2700000">
              <a:srgbClr val="7B5E55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12064" y="1261872"/>
            <a:ext cx="64008" cy="2816352"/>
          </a:xfrm>
          <a:prstGeom prst="roundRect">
            <a:avLst>
              <a:gd name="adj" fmla="val 4285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1243584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旧输出曲线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76656" y="1581912"/>
            <a:ext cx="1801368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85800" y="3127248"/>
            <a:ext cx="1600200" cy="0"/>
          </a:xfrm>
          <a:prstGeom prst="line">
            <a:avLst/>
          </a:prstGeom>
          <a:noFill/>
          <a:ln w="12700">
            <a:solidFill>
              <a:srgbClr val="62676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1828800"/>
            <a:ext cx="0" cy="1298448"/>
          </a:xfrm>
          <a:prstGeom prst="line">
            <a:avLst/>
          </a:prstGeom>
          <a:noFill/>
          <a:ln w="12700">
            <a:solidFill>
              <a:srgbClr val="62676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758952" y="2700406"/>
            <a:ext cx="212598" cy="118689"/>
          </a:xfrm>
          <a:prstGeom prst="line">
            <a:avLst/>
          </a:prstGeom>
          <a:noFill/>
          <a:ln w="30480">
            <a:solidFill>
              <a:srgbClr val="0F778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971550" y="2441448"/>
            <a:ext cx="240944" cy="258958"/>
          </a:xfrm>
          <a:prstGeom prst="line">
            <a:avLst/>
          </a:prstGeom>
          <a:noFill/>
          <a:ln w="30480">
            <a:solidFill>
              <a:srgbClr val="0F778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1212494" y="2139330"/>
            <a:ext cx="226771" cy="302118"/>
          </a:xfrm>
          <a:prstGeom prst="line">
            <a:avLst/>
          </a:prstGeom>
          <a:noFill/>
          <a:ln w="30480">
            <a:solidFill>
              <a:srgbClr val="0F778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439266" y="2139330"/>
            <a:ext cx="212598" cy="140269"/>
          </a:xfrm>
          <a:prstGeom prst="line">
            <a:avLst/>
          </a:prstGeom>
          <a:noFill/>
          <a:ln w="30480">
            <a:solidFill>
              <a:srgbClr val="0F778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51864" y="2279599"/>
            <a:ext cx="269291" cy="291328"/>
          </a:xfrm>
          <a:prstGeom prst="line">
            <a:avLst/>
          </a:prstGeom>
          <a:noFill/>
          <a:ln w="30480">
            <a:solidFill>
              <a:srgbClr val="0F778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21154" y="2570927"/>
            <a:ext cx="255118" cy="118689"/>
          </a:xfrm>
          <a:prstGeom prst="line">
            <a:avLst/>
          </a:prstGeom>
          <a:noFill/>
          <a:ln w="30480">
            <a:solidFill>
              <a:srgbClr val="0F778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3319272"/>
            <a:ext cx="1691640" cy="347472"/>
          </a:xfrm>
          <a:prstGeom prst="roundRect">
            <a:avLst>
              <a:gd name="adj" fmla="val 26316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332841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回归指纹 ≠ 物理真值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21792" y="37490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曲线连续，不代表分支身份正确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907792" y="1115568"/>
            <a:ext cx="3401568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35808" y="1261872"/>
            <a:ext cx="64008" cy="512064"/>
          </a:xfrm>
          <a:prstGeom prst="roundRect">
            <a:avLst>
              <a:gd name="adj" fmla="val 4285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0" y="1243584"/>
            <a:ext cx="296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参数缺失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200400" y="1581912"/>
            <a:ext cx="2962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波长、窗长、搜索带和人工选择不可追溯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907792" y="2121408"/>
            <a:ext cx="3401568" cy="804672"/>
          </a:xfrm>
          <a:prstGeom prst="roundRect">
            <a:avLst>
              <a:gd name="adj" fmla="val 9091"/>
            </a:avLst>
          </a:prstGeom>
          <a:solidFill>
            <a:srgbClr val="E7F2F3"/>
          </a:solidFill>
          <a:ln w="12700">
            <a:solidFill>
              <a:srgbClr val="E5D6D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035808" y="2267712"/>
            <a:ext cx="64008" cy="512064"/>
          </a:xfrm>
          <a:prstGeom prst="roundRect">
            <a:avLst>
              <a:gd name="adj" fmla="val 42857"/>
            </a:avLst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0" y="2249424"/>
            <a:ext cx="296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谱证据缺失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200400" y="2587752"/>
            <a:ext cx="2962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 measured / zero_masked，无法重建谱状态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907792" y="3127248"/>
            <a:ext cx="3401568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035808" y="3273552"/>
            <a:ext cx="64008" cy="512064"/>
          </a:xfrm>
          <a:prstGeom prst="roundRect">
            <a:avLst>
              <a:gd name="adj" fmla="val 4285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0" y="3255264"/>
            <a:ext cx="296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质量状态缺失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200400" y="3593592"/>
            <a:ext cx="2962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连续曲线仍可能跟踪错误谱分支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355080" y="2496312"/>
            <a:ext cx="384048" cy="914"/>
          </a:xfrm>
          <a:prstGeom prst="line">
            <a:avLst/>
          </a:prstGeom>
          <a:noFill/>
          <a:ln w="2286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6784848" y="1325880"/>
            <a:ext cx="1965960" cy="2423160"/>
          </a:xfrm>
          <a:prstGeom prst="roundRect">
            <a:avLst>
              <a:gd name="adj" fmla="val 3721"/>
            </a:avLst>
          </a:prstGeom>
          <a:solidFill>
            <a:srgbClr val="F6F1EE"/>
          </a:solidFill>
          <a:ln w="12700">
            <a:solidFill>
              <a:srgbClr val="B42318"/>
            </a:solidFill>
            <a:prstDash val="solid"/>
          </a:ln>
          <a:effectLst>
            <a:outerShdw sx="100000" sy="100000" kx="0" ky="0" algn="bl" rotWithShape="0" blurRad="25400" dist="12700" dir="2700000">
              <a:srgbClr val="7B5E55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995160" y="153619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物理结论？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7360920" y="192024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</a:t>
            </a:r>
            <a:endParaRPr lang="en-US" sz="5000" dirty="0"/>
          </a:p>
        </p:txBody>
      </p:sp>
      <p:sp>
        <p:nvSpPr>
          <p:cNvPr id="38" name="Text 36"/>
          <p:cNvSpPr/>
          <p:nvPr/>
        </p:nvSpPr>
        <p:spPr>
          <a:xfrm>
            <a:off x="7022592" y="2907792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证据不完整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结论不可确认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01168"/>
            <a:ext cx="100584" cy="393192"/>
          </a:xfrm>
          <a:prstGeom prst="roundRect">
            <a:avLst>
              <a:gd name="adj" fmla="val 36364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92024"/>
            <a:ext cx="7973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5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重建：把算法、配置和验证放进同一工作流</a:t>
            </a:r>
            <a:endParaRPr lang="en-US" sz="2150" dirty="0"/>
          </a:p>
        </p:txBody>
      </p:sp>
      <p:sp>
        <p:nvSpPr>
          <p:cNvPr id="5" name="Shape 3"/>
          <p:cNvSpPr/>
          <p:nvPr/>
        </p:nvSpPr>
        <p:spPr>
          <a:xfrm>
            <a:off x="8641080" y="128016"/>
            <a:ext cx="384048" cy="493776"/>
          </a:xfrm>
          <a:prstGeom prst="chevron">
            <a:avLst/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13648" y="4828032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127248" y="1856232"/>
            <a:ext cx="2889504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B42318"/>
            </a:solidFill>
            <a:prstDash val="solid"/>
          </a:ln>
          <a:effectLst>
            <a:outerShdw sx="100000" sy="100000" kx="0" ky="0" algn="bl" rotWithShape="0" blurRad="25400" dist="12700" dir="2700000">
              <a:srgbClr val="7B5E55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98424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core / workflow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3291840" y="2322576"/>
            <a:ext cx="2560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 · 配置 · 验证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1078992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  <a:effectLst>
            <a:outerShdw sx="100000" sy="100000" kx="0" ky="0" algn="bl" rotWithShape="0" blurRad="25400" dist="12700" dir="2700000">
              <a:srgbClr val="7B5E55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0936" y="1225296"/>
            <a:ext cx="64008" cy="850392"/>
          </a:xfrm>
          <a:prstGeom prst="roundRect">
            <a:avLst>
              <a:gd name="adj" fmla="val 42857"/>
            </a:avLst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1207008"/>
            <a:ext cx="189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数值计算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95528" y="1545336"/>
            <a:ext cx="1892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NumPy + SciPy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数组、Hann 窗、STFT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09360" y="1078992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  <a:effectLst>
            <a:outerShdw sx="100000" sy="100000" kx="0" ky="0" algn="bl" rotWithShape="0" blurRad="25400" dist="12700" dir="2700000">
              <a:srgbClr val="7B5E55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37376" y="1225296"/>
            <a:ext cx="64008" cy="850392"/>
          </a:xfrm>
          <a:prstGeom prst="roundRect">
            <a:avLst>
              <a:gd name="adj" fmla="val 4285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01968" y="1207008"/>
            <a:ext cx="189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可复现输出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601968" y="1545336"/>
            <a:ext cx="1892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Matplotlib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production 图与实验输出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2990088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  <a:effectLst>
            <a:outerShdw sx="100000" sy="100000" kx="0" ky="0" algn="bl" rotWithShape="0" blurRad="25400" dist="12700" dir="2700000">
              <a:srgbClr val="7B5E55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0936" y="3136392"/>
            <a:ext cx="64008" cy="850392"/>
          </a:xfrm>
          <a:prstGeom prst="roundRect">
            <a:avLst>
              <a:gd name="adj" fmla="val 4285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118104"/>
            <a:ext cx="189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交互与交付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95528" y="3456432"/>
            <a:ext cx="1892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PySide6 + PyQtGraph：GUI 待实现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PyInstaller：跨机器打包待验证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309360" y="2990088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  <a:effectLst>
            <a:outerShdw sx="100000" sy="100000" kx="0" ky="0" algn="bl" rotWithShape="0" blurRad="25400" dist="12700" dir="2700000">
              <a:srgbClr val="7B5E55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37376" y="3136392"/>
            <a:ext cx="64008" cy="850392"/>
          </a:xfrm>
          <a:prstGeom prst="roundRect">
            <a:avLst>
              <a:gd name="adj" fmla="val 42857"/>
            </a:avLst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01968" y="3118104"/>
            <a:ext cx="189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质量验证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601968" y="3456432"/>
            <a:ext cx="1892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pytest + Ruff + mypy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271 passed｜39 个源文件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834640" y="1618488"/>
            <a:ext cx="548640" cy="502920"/>
          </a:xfrm>
          <a:prstGeom prst="line">
            <a:avLst/>
          </a:prstGeom>
          <a:noFill/>
          <a:ln w="1651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 flipH="1">
            <a:off x="5760720" y="1618488"/>
            <a:ext cx="548640" cy="502920"/>
          </a:xfrm>
          <a:prstGeom prst="line">
            <a:avLst/>
          </a:prstGeom>
          <a:noFill/>
          <a:ln w="1651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 flipV="1">
            <a:off x="2834640" y="2990088"/>
            <a:ext cx="548640" cy="502920"/>
          </a:xfrm>
          <a:prstGeom prst="line">
            <a:avLst/>
          </a:prstGeom>
          <a:noFill/>
          <a:ln w="1651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 flipH="1" flipV="1">
            <a:off x="5760720" y="2990088"/>
            <a:ext cx="548640" cy="502920"/>
          </a:xfrm>
          <a:prstGeom prst="line">
            <a:avLst/>
          </a:prstGeom>
          <a:noFill/>
          <a:ln w="1651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417320" y="4370832"/>
            <a:ext cx="1828800" cy="347472"/>
          </a:xfrm>
          <a:prstGeom prst="roundRect">
            <a:avLst>
              <a:gd name="adj" fmla="val 26316"/>
            </a:avLst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417320" y="437997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271 tests passed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3657600" y="4370832"/>
            <a:ext cx="1828800" cy="347472"/>
          </a:xfrm>
          <a:prstGeom prst="roundRect">
            <a:avLst>
              <a:gd name="adj" fmla="val 26316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0" y="437997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Ruff 全部通过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897880" y="4370832"/>
            <a:ext cx="1828800" cy="347472"/>
          </a:xfrm>
          <a:prstGeom prst="roundRect">
            <a:avLst>
              <a:gd name="adj" fmla="val 26316"/>
            </a:avLst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97880" y="437997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mypy 39 files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01168"/>
            <a:ext cx="100584" cy="393192"/>
          </a:xfrm>
          <a:prstGeom prst="roundRect">
            <a:avLst>
              <a:gd name="adj" fmla="val 36364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92024"/>
            <a:ext cx="7973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处理链已打通表观速度闭环，物理修正仍被明确隔离</a:t>
            </a:r>
            <a:endParaRPr lang="en-US" sz="2450" dirty="0"/>
          </a:p>
        </p:txBody>
      </p:sp>
      <p:sp>
        <p:nvSpPr>
          <p:cNvPr id="5" name="Shape 3"/>
          <p:cNvSpPr/>
          <p:nvPr/>
        </p:nvSpPr>
        <p:spPr>
          <a:xfrm>
            <a:off x="8641080" y="128016"/>
            <a:ext cx="384048" cy="493776"/>
          </a:xfrm>
          <a:prstGeom prst="chevron">
            <a:avLst/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13648" y="4828032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9326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8912" y="1325880"/>
            <a:ext cx="841248" cy="786384"/>
          </a:xfrm>
          <a:prstGeom prst="roundRect">
            <a:avLst>
              <a:gd name="adj" fmla="val 697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444752"/>
            <a:ext cx="7498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只读输入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280160" y="1719072"/>
            <a:ext cx="164592" cy="914"/>
          </a:xfrm>
          <a:prstGeom prst="line">
            <a:avLst/>
          </a:prstGeom>
          <a:noFill/>
          <a:ln w="1778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453896" y="1325880"/>
            <a:ext cx="841248" cy="786384"/>
          </a:xfrm>
          <a:prstGeom prst="roundRect">
            <a:avLst>
              <a:gd name="adj" fmla="val 697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99616" y="1444752"/>
            <a:ext cx="7498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STFT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95144" y="1719072"/>
            <a:ext cx="164592" cy="914"/>
          </a:xfrm>
          <a:prstGeom prst="line">
            <a:avLst/>
          </a:prstGeom>
          <a:noFill/>
          <a:ln w="1778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468880" y="1325880"/>
            <a:ext cx="841248" cy="786384"/>
          </a:xfrm>
          <a:prstGeom prst="roundRect">
            <a:avLst>
              <a:gd name="adj" fmla="val 697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14600" y="1444752"/>
            <a:ext cx="7498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峰脊线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10128" y="1719072"/>
            <a:ext cx="164592" cy="914"/>
          </a:xfrm>
          <a:prstGeom prst="line">
            <a:avLst/>
          </a:prstGeom>
          <a:noFill/>
          <a:ln w="1778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483864" y="1325880"/>
            <a:ext cx="841248" cy="786384"/>
          </a:xfrm>
          <a:prstGeom prst="roundRect">
            <a:avLst>
              <a:gd name="adj" fmla="val 697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29584" y="1444752"/>
            <a:ext cx="7498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三点精修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25112" y="1719072"/>
            <a:ext cx="164592" cy="914"/>
          </a:xfrm>
          <a:prstGeom prst="line">
            <a:avLst/>
          </a:prstGeom>
          <a:noFill/>
          <a:ln w="1778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498848" y="1325880"/>
            <a:ext cx="841248" cy="786384"/>
          </a:xfrm>
          <a:prstGeom prst="roundRect">
            <a:avLst>
              <a:gd name="adj" fmla="val 697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44568" y="1444752"/>
            <a:ext cx="7498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无符号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表观速度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340096" y="1719072"/>
            <a:ext cx="164592" cy="914"/>
          </a:xfrm>
          <a:prstGeom prst="line">
            <a:avLst/>
          </a:prstGeom>
          <a:noFill/>
          <a:ln w="1778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513832" y="1325880"/>
            <a:ext cx="841248" cy="786384"/>
          </a:xfrm>
          <a:prstGeom prst="roundRect">
            <a:avLst>
              <a:gd name="adj" fmla="val 697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59552" y="1444752"/>
            <a:ext cx="7498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描述性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55080" y="1719072"/>
            <a:ext cx="164592" cy="914"/>
          </a:xfrm>
          <a:prstGeom prst="line">
            <a:avLst/>
          </a:prstGeom>
          <a:noFill/>
          <a:ln w="1778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528816" y="1325880"/>
            <a:ext cx="841248" cy="786384"/>
          </a:xfrm>
          <a:prstGeom prst="roundRect">
            <a:avLst>
              <a:gd name="adj" fmla="val 697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74536" y="1444752"/>
            <a:ext cx="7498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非覆盖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150608" y="1719072"/>
            <a:ext cx="164592" cy="914"/>
          </a:xfrm>
          <a:prstGeom prst="line">
            <a:avLst/>
          </a:prstGeom>
          <a:noFill/>
          <a:ln w="1778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342632" y="1115568"/>
            <a:ext cx="109728" cy="1234440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70648" y="1115568"/>
            <a:ext cx="137160" cy="1234440"/>
          </a:xfrm>
          <a:prstGeom prst="rect">
            <a:avLst/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67728" y="84124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物理修正隔离闸门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662672" y="94183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尚未实现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7680960" y="1261872"/>
            <a:ext cx="960120" cy="1572768"/>
          </a:xfrm>
          <a:prstGeom prst="roundRect">
            <a:avLst>
              <a:gd name="adj" fmla="val 4762"/>
            </a:avLst>
          </a:prstGeom>
          <a:solidFill>
            <a:srgbClr val="F1F2F3"/>
          </a:solidFill>
          <a:ln w="12700">
            <a:solidFill>
              <a:srgbClr val="9EA2A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0" y="1417320"/>
            <a:ext cx="7772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LiF 修正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corrected velocity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有符号速度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通道融合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GUI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02920" y="25786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6B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正在完善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02920" y="2926080"/>
            <a:ext cx="2487168" cy="960120"/>
          </a:xfrm>
          <a:prstGeom prst="roundRect">
            <a:avLst>
              <a:gd name="adj" fmla="val 7619"/>
            </a:avLst>
          </a:prstGeom>
          <a:solidFill>
            <a:srgbClr val="F9EEE5"/>
          </a:solidFill>
          <a:ln w="12700">
            <a:solidFill>
              <a:srgbClr val="E8AE8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0936" y="3072384"/>
            <a:ext cx="64008" cy="667512"/>
          </a:xfrm>
          <a:prstGeom prst="roundRect">
            <a:avLst>
              <a:gd name="adj" fmla="val 42857"/>
            </a:avLst>
          </a:prstGeom>
          <a:solidFill>
            <a:srgbClr val="D96B27"/>
          </a:solidFill>
          <a:ln w="12700">
            <a:solidFill>
              <a:srgbClr val="D96B27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5528" y="3054096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96B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弱信号判据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795528" y="3392424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从描述性质量推进到可验证阈值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246120" y="2926080"/>
            <a:ext cx="2487168" cy="960120"/>
          </a:xfrm>
          <a:prstGeom prst="roundRect">
            <a:avLst>
              <a:gd name="adj" fmla="val 7619"/>
            </a:avLst>
          </a:prstGeom>
          <a:solidFill>
            <a:srgbClr val="F9EEE5"/>
          </a:solidFill>
          <a:ln w="12700">
            <a:solidFill>
              <a:srgbClr val="E8AE8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374136" y="3072384"/>
            <a:ext cx="64008" cy="667512"/>
          </a:xfrm>
          <a:prstGeom prst="roundRect">
            <a:avLst>
              <a:gd name="adj" fmla="val 42857"/>
            </a:avLst>
          </a:prstGeom>
          <a:solidFill>
            <a:srgbClr val="D96B27"/>
          </a:solidFill>
          <a:ln w="12700">
            <a:solidFill>
              <a:srgbClr val="D96B27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538728" y="3054096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96B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双通道质量决策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3538728" y="3392424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先输出证据，再建立择优规则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989320" y="2926080"/>
            <a:ext cx="2487168" cy="960120"/>
          </a:xfrm>
          <a:prstGeom prst="roundRect">
            <a:avLst>
              <a:gd name="adj" fmla="val 7619"/>
            </a:avLst>
          </a:prstGeom>
          <a:solidFill>
            <a:srgbClr val="F9EEE5"/>
          </a:solidFill>
          <a:ln w="12700">
            <a:solidFill>
              <a:srgbClr val="E8AE8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117336" y="3072384"/>
            <a:ext cx="64008" cy="667512"/>
          </a:xfrm>
          <a:prstGeom prst="roundRect">
            <a:avLst>
              <a:gd name="adj" fmla="val 42857"/>
            </a:avLst>
          </a:prstGeom>
          <a:solidFill>
            <a:srgbClr val="D96B27"/>
          </a:solidFill>
          <a:ln w="12700">
            <a:solidFill>
              <a:srgbClr val="D96B27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81928" y="3054096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96B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preview 语义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6281928" y="3392424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 development preview 与正式结果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02920" y="4096512"/>
            <a:ext cx="8138160" cy="566928"/>
          </a:xfrm>
          <a:prstGeom prst="roundRect">
            <a:avLst>
              <a:gd name="adj" fmla="val 12903"/>
            </a:avLst>
          </a:prstGeom>
          <a:solidFill>
            <a:srgbClr val="F7E7E2"/>
          </a:solidFill>
          <a:ln w="12700">
            <a:solidFill>
              <a:srgbClr val="F7E7E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7512" y="4169664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1463040" y="4169664"/>
            <a:ext cx="7013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当前闭环止于无符号表观速度与描述性质量；全时段 preview 不是正式测量。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01168"/>
            <a:ext cx="100584" cy="393192"/>
          </a:xfrm>
          <a:prstGeom prst="roundRect">
            <a:avLst>
              <a:gd name="adj" fmla="val 36364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92024"/>
            <a:ext cx="7973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5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可信输入从只读原始数据、SI 单位和显式列映射开始</a:t>
            </a:r>
            <a:endParaRPr lang="en-US" sz="2150" dirty="0"/>
          </a:p>
        </p:txBody>
      </p:sp>
      <p:sp>
        <p:nvSpPr>
          <p:cNvPr id="5" name="Shape 3"/>
          <p:cNvSpPr/>
          <p:nvPr/>
        </p:nvSpPr>
        <p:spPr>
          <a:xfrm>
            <a:off x="8641080" y="128016"/>
            <a:ext cx="384048" cy="493776"/>
          </a:xfrm>
          <a:prstGeom prst="chevron">
            <a:avLst/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13648" y="4828032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75488" y="1188720"/>
            <a:ext cx="384048" cy="384048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19786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41832" y="987552"/>
            <a:ext cx="24231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06424" y="1115568"/>
            <a:ext cx="2093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显式列映射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06424" y="1453896"/>
            <a:ext cx="20939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time=0｜channel_1=1｜channel_2=2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写入单一 TOML 配置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475488" y="2048256"/>
            <a:ext cx="384048" cy="384048"/>
          </a:xfrm>
          <a:prstGeom prst="ellipse">
            <a:avLst/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05740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41832" y="1847088"/>
            <a:ext cx="2423160" cy="786384"/>
          </a:xfrm>
          <a:prstGeom prst="roundRect">
            <a:avLst>
              <a:gd name="adj" fmla="val 9302"/>
            </a:avLst>
          </a:prstGeom>
          <a:solidFill>
            <a:srgbClr val="E7F2F3"/>
          </a:solidFill>
          <a:ln w="12700">
            <a:solidFill>
              <a:srgbClr val="B8DA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06424" y="1975104"/>
            <a:ext cx="2093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双通道独立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06424" y="2313432"/>
            <a:ext cx="20939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分别构造 SignalRecord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不做输入层电压平均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475488" y="2907792"/>
            <a:ext cx="384048" cy="384048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916936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41832" y="2706624"/>
            <a:ext cx="242316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06424" y="2834640"/>
            <a:ext cx="2093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只读与 SI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06424" y="3172968"/>
            <a:ext cx="20939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秒、伏特、赫兹；记录源文件 SHA-256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475488" y="3767328"/>
            <a:ext cx="384048" cy="384048"/>
          </a:xfrm>
          <a:prstGeom prst="ellipse">
            <a:avLst/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377647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41832" y="3566160"/>
            <a:ext cx="2423160" cy="786384"/>
          </a:xfrm>
          <a:prstGeom prst="roundRect">
            <a:avLst>
              <a:gd name="adj" fmla="val 9302"/>
            </a:avLst>
          </a:prstGeom>
          <a:solidFill>
            <a:srgbClr val="E7F2F3"/>
          </a:solidFill>
          <a:ln w="12700">
            <a:solidFill>
              <a:srgbClr val="B8DA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06424" y="3694176"/>
            <a:ext cx="2093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不静默处理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06424" y="4032504"/>
            <a:ext cx="20939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不丢列、不插值、不平滑、不重采样；问题传递为 NaN/状态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3611880" y="987552"/>
            <a:ext cx="5047488" cy="3538728"/>
          </a:xfrm>
          <a:prstGeom prst="roundRect">
            <a:avLst>
              <a:gd name="adj" fmla="val 1292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  <a:effectLst>
            <a:outerShdw sx="100000" sy="100000" kx="0" ky="0" algn="bl" rotWithShape="0" blurRad="25400" dist="12700" dir="2700000">
              <a:srgbClr val="7B5E55">
                <a:alpha val="10000"/>
              </a:srgbClr>
            </a:outerShdw>
          </a:effectLst>
        </p:spPr>
      </p:sp>
      <p:pic>
        <p:nvPicPr>
          <p:cNvPr id="28" name="Image 0" descr="真实输出｜data/raw/20260607.csv｜仅截取显示窗口，未平滑、未插值、未重采样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85032" y="1060704"/>
            <a:ext cx="4901184" cy="3209544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3721608" y="4297680"/>
            <a:ext cx="4828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真实输出｜data/raw/20260607.csv｜仅截取显示窗口，未平滑、未插值、未重采样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502920" y="4791456"/>
            <a:ext cx="8001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源数据只读使用；任务前后 SHA-256 保持不变。</a:t>
            </a:r>
            <a:endParaRPr lang="en-US" sz="9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01168"/>
            <a:ext cx="100584" cy="393192"/>
          </a:xfrm>
          <a:prstGeom prst="roundRect">
            <a:avLst>
              <a:gd name="adj" fmla="val 36364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92024"/>
            <a:ext cx="7973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STFT 将时变拍频转换为可追踪的时频脊线</a:t>
            </a:r>
            <a:endParaRPr lang="en-US" sz="2450" dirty="0"/>
          </a:p>
        </p:txBody>
      </p:sp>
      <p:sp>
        <p:nvSpPr>
          <p:cNvPr id="5" name="Shape 3"/>
          <p:cNvSpPr/>
          <p:nvPr/>
        </p:nvSpPr>
        <p:spPr>
          <a:xfrm>
            <a:off x="8641080" y="128016"/>
            <a:ext cx="384048" cy="493776"/>
          </a:xfrm>
          <a:prstGeom prst="chevron">
            <a:avLst/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13648" y="4828032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38912" y="987552"/>
            <a:ext cx="5806440" cy="365760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  <a:effectLst>
            <a:outerShdw sx="100000" sy="100000" kx="0" ky="0" algn="bl" rotWithShape="0" blurRad="25400" dist="12700" dir="2700000">
              <a:srgbClr val="7B5E55">
                <a:alpha val="10000"/>
              </a:srgbClr>
            </a:outerShdw>
          </a:effectLst>
        </p:spPr>
      </p:sp>
      <p:pic>
        <p:nvPicPr>
          <p:cNvPr id="8" name="Image 0" descr="真实输出｜Balanced｜PDV 通道 1｜搜索 0.05–2.0 GHz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1060704"/>
            <a:ext cx="5660136" cy="332841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4416552"/>
            <a:ext cx="55869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真实输出｜Balanced｜PDV 通道 1｜搜索 0.05–2.0 GHz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6473952" y="987552"/>
            <a:ext cx="21945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601968" y="1133856"/>
            <a:ext cx="64008" cy="512064"/>
          </a:xfrm>
          <a:prstGeom prst="roundRect">
            <a:avLst>
              <a:gd name="adj" fmla="val 4285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766560" y="1115568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滑动时间窗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766560" y="1453896"/>
            <a:ext cx="1755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保留频率随时间的演化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73952" y="1901952"/>
            <a:ext cx="2194560" cy="877824"/>
          </a:xfrm>
          <a:prstGeom prst="roundRect">
            <a:avLst>
              <a:gd name="adj" fmla="val 8333"/>
            </a:avLst>
          </a:prstGeom>
          <a:solidFill>
            <a:srgbClr val="E7F2F3"/>
          </a:solidFill>
          <a:ln w="12700">
            <a:solidFill>
              <a:srgbClr val="E5D6D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601968" y="2048256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66560" y="2029968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Balanced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766560" y="2368296"/>
            <a:ext cx="17556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Hann｜768｜hop 128｜NFFT 4096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473952" y="2889504"/>
            <a:ext cx="219456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601968" y="3035808"/>
            <a:ext cx="64008" cy="585216"/>
          </a:xfrm>
          <a:prstGeom prst="roundRect">
            <a:avLst>
              <a:gd name="adj" fmla="val 4285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766560" y="3017520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边界说明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766560" y="3355848"/>
            <a:ext cx="17556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NFFT 加密频格，不等于真实分辨率提升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473952" y="4059936"/>
            <a:ext cx="2194560" cy="347472"/>
          </a:xfrm>
          <a:prstGeom prst="roundRect">
            <a:avLst>
              <a:gd name="adj" fmla="val 26316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73952" y="40690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白色脊线是候选轨迹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01168"/>
            <a:ext cx="100584" cy="393192"/>
          </a:xfrm>
          <a:prstGeom prst="roundRect">
            <a:avLst>
              <a:gd name="adj" fmla="val 36364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92024"/>
            <a:ext cx="7973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脊线给出拍频轨迹；只有显式波长才能换算表观速度</a:t>
            </a:r>
            <a:endParaRPr lang="en-US" sz="2450" dirty="0"/>
          </a:p>
        </p:txBody>
      </p:sp>
      <p:sp>
        <p:nvSpPr>
          <p:cNvPr id="5" name="Shape 3"/>
          <p:cNvSpPr/>
          <p:nvPr/>
        </p:nvSpPr>
        <p:spPr>
          <a:xfrm>
            <a:off x="8641080" y="128016"/>
            <a:ext cx="384048" cy="493776"/>
          </a:xfrm>
          <a:prstGeom prst="chevron">
            <a:avLst/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13648" y="4828032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98755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带内最大谱峰 → 三点对数幅值精修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66928" y="14173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i="1" dirty="0">
                <a:solidFill>
                  <a:srgbClr val="0F7785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vₐₚₚ = λ₀ fᵦ / 2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502920" y="2057400"/>
            <a:ext cx="2971800" cy="786384"/>
          </a:xfrm>
          <a:prstGeom prst="roundRect">
            <a:avLst>
              <a:gd name="adj" fmla="val 9302"/>
            </a:avLst>
          </a:prstGeom>
          <a:solidFill>
            <a:srgbClr val="F7E7E2"/>
          </a:solidFill>
          <a:ln w="12700">
            <a:solidFill>
              <a:srgbClr val="F7E7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2185416"/>
            <a:ext cx="2642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λ₀ = 1.55 μm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7512" y="2523744"/>
            <a:ext cx="26426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未确认的演示值，不作为实验参数结论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502920" y="2926080"/>
            <a:ext cx="29718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3054096"/>
            <a:ext cx="2642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失败保持 NaN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67512" y="3392424"/>
            <a:ext cx="26426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精修失败与 PRE_EVENT 核心速度均不伪造数值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502920" y="3794760"/>
            <a:ext cx="2971800" cy="786384"/>
          </a:xfrm>
          <a:prstGeom prst="roundRect">
            <a:avLst>
              <a:gd name="adj" fmla="val 9302"/>
            </a:avLst>
          </a:prstGeom>
          <a:solidFill>
            <a:srgbClr val="E7F2F3"/>
          </a:solidFill>
          <a:ln w="12700">
            <a:solidFill>
              <a:srgbClr val="B8DA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" y="3922776"/>
            <a:ext cx="2642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物理量分离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7512" y="4261104"/>
            <a:ext cx="26426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apparent velocity 与未来 corrected velocity 必须分开</a:t>
            </a:r>
            <a:endParaRPr lang="en-US" sz="1030" dirty="0"/>
          </a:p>
        </p:txBody>
      </p:sp>
      <p:sp>
        <p:nvSpPr>
          <p:cNvPr id="18" name="Text 16"/>
          <p:cNvSpPr/>
          <p:nvPr/>
        </p:nvSpPr>
        <p:spPr>
          <a:xfrm>
            <a:off x="3703320" y="9601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Balanced / 通道 1｜正式候选帧</a:t>
            </a:r>
            <a:endParaRPr lang="en-US" sz="14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3675888" y="1261872"/>
          <a:ext cx="4956048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Text 17"/>
          <p:cNvSpPr/>
          <p:nvPr/>
        </p:nvSpPr>
        <p:spPr>
          <a:xfrm>
            <a:off x="3886200" y="4535424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相对事件时间 (μs)｜无符号表观速度 (m/s)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01168"/>
            <a:ext cx="100584" cy="393192"/>
          </a:xfrm>
          <a:prstGeom prst="roundRect">
            <a:avLst>
              <a:gd name="adj" fmla="val 36364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92024"/>
            <a:ext cx="7973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双通道必须独立分析；质量量只提供诊断证据</a:t>
            </a:r>
            <a:endParaRPr lang="en-US" sz="2450" dirty="0"/>
          </a:p>
        </p:txBody>
      </p:sp>
      <p:sp>
        <p:nvSpPr>
          <p:cNvPr id="5" name="Shape 3"/>
          <p:cNvSpPr/>
          <p:nvPr/>
        </p:nvSpPr>
        <p:spPr>
          <a:xfrm>
            <a:off x="8641080" y="128016"/>
            <a:ext cx="384048" cy="493776"/>
          </a:xfrm>
          <a:prstGeom prst="chevron">
            <a:avLst/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13648" y="4828032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38912" y="1078992"/>
          <a:ext cx="548640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172200" y="1078992"/>
            <a:ext cx="2487168" cy="1508760"/>
          </a:xfrm>
          <a:prstGeom prst="roundRect">
            <a:avLst>
              <a:gd name="adj" fmla="val 4848"/>
            </a:avLst>
          </a:prstGeom>
          <a:solidFill>
            <a:srgbClr val="E7F2F3"/>
          </a:solidFill>
          <a:ln w="12700">
            <a:solidFill>
              <a:srgbClr val="0F778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36792" y="1207008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F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可以说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6336792" y="1545336"/>
            <a:ext cx="215798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两个量程分别执行 STFT、脊线与速度换算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dB 量描述当前谱结构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2788920"/>
            <a:ext cx="2487168" cy="1719072"/>
          </a:xfrm>
          <a:prstGeom prst="roundRect">
            <a:avLst>
              <a:gd name="adj" fmla="val 4255"/>
            </a:avLst>
          </a:prstGeom>
          <a:solidFill>
            <a:srgbClr val="F7E7E2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36792" y="2916936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不能说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6336792" y="3255264"/>
            <a:ext cx="21579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通道 2 数值较高 ≠ 自动更可信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这些 dB 不是正式 SNR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当前没有 GOOD/BAD 阈值或自动融合</a:t>
            </a:r>
            <a:endParaRPr lang="en-US" sz="1220" dirty="0"/>
          </a:p>
        </p:txBody>
      </p:sp>
      <p:sp>
        <p:nvSpPr>
          <p:cNvPr id="14" name="Text 11"/>
          <p:cNvSpPr/>
          <p:nvPr/>
        </p:nvSpPr>
        <p:spPr>
          <a:xfrm>
            <a:off x="502920" y="4791456"/>
            <a:ext cx="8001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来源：run_20260724_004901_103968；数值只描述当前数据，不自动决定可信通道。</a:t>
            </a:r>
            <a:endParaRPr lang="en-US" sz="9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01168"/>
            <a:ext cx="100584" cy="393192"/>
          </a:xfrm>
          <a:prstGeom prst="roundRect">
            <a:avLst>
              <a:gd name="adj" fmla="val 36364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92024"/>
            <a:ext cx="7973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core/workflow 与 GUI 解耦，让数值链可以独立验证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8641080" y="128016"/>
            <a:ext cx="384048" cy="493776"/>
          </a:xfrm>
          <a:prstGeom prst="chevron">
            <a:avLst/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13648" y="4828032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9144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入口与配置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1261872"/>
            <a:ext cx="150876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" y="1353312"/>
            <a:ext cx="1399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run_demo_pipeline.py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29968" y="1527048"/>
            <a:ext cx="320040" cy="914"/>
          </a:xfrm>
          <a:prstGeom prst="line">
            <a:avLst/>
          </a:prstGeom>
          <a:noFill/>
          <a:ln w="15240">
            <a:solidFill>
              <a:srgbClr val="20212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377440" y="1261872"/>
            <a:ext cx="150876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0F77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32304" y="1353312"/>
            <a:ext cx="1399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TOML（只读配置）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904488" y="1527048"/>
            <a:ext cx="320040" cy="914"/>
          </a:xfrm>
          <a:prstGeom prst="line">
            <a:avLst/>
          </a:prstGeom>
          <a:noFill/>
          <a:ln w="15240">
            <a:solidFill>
              <a:srgbClr val="202124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251960" y="1261872"/>
            <a:ext cx="150876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06824" y="1353312"/>
            <a:ext cx="1399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production_outputs.py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68880" y="2331720"/>
            <a:ext cx="2011680" cy="658368"/>
          </a:xfrm>
          <a:prstGeom prst="roundRect">
            <a:avLst>
              <a:gd name="adj" fmla="val 8333"/>
            </a:avLst>
          </a:prstGeom>
          <a:solidFill>
            <a:srgbClr val="E7F2F3"/>
          </a:solidFill>
          <a:ln w="15240">
            <a:solidFill>
              <a:srgbClr val="0F778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0" y="24688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core.workflow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 flipH="1">
            <a:off x="3813048" y="1810512"/>
            <a:ext cx="1143000" cy="566928"/>
          </a:xfrm>
          <a:prstGeom prst="line">
            <a:avLst/>
          </a:prstGeom>
          <a:noFill/>
          <a:ln w="15240">
            <a:solidFill>
              <a:srgbClr val="202124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349240" y="1810512"/>
            <a:ext cx="914" cy="347472"/>
          </a:xfrm>
          <a:prstGeom prst="line">
            <a:avLst/>
          </a:prstGeom>
          <a:noFill/>
          <a:ln w="15240">
            <a:solidFill>
              <a:srgbClr val="0F7785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846320" y="2212848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F778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10912" y="2340864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manifest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010912" y="2679192"/>
            <a:ext cx="10881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配置｜源哈希｜Git 状态｜生成文件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02920" y="2395728"/>
            <a:ext cx="1234440" cy="566928"/>
          </a:xfrm>
          <a:prstGeom prst="roundRect">
            <a:avLst>
              <a:gd name="adj" fmla="val 8065"/>
            </a:avLst>
          </a:prstGeom>
          <a:solidFill>
            <a:srgbClr val="F1F2F3"/>
          </a:solidFill>
          <a:ln w="12700">
            <a:solidFill>
              <a:srgbClr val="969A9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251460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GUI 占位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1737360" y="2679192"/>
            <a:ext cx="658368" cy="914"/>
          </a:xfrm>
          <a:prstGeom prst="line">
            <a:avLst/>
          </a:prstGeom>
          <a:noFill/>
          <a:ln w="15240">
            <a:solidFill>
              <a:srgbClr val="969A9F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1298448" y="23042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未来：仅调用公共 API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804672" y="3675888"/>
            <a:ext cx="1143000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0F778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0392" y="37673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io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 flipH="1">
            <a:off x="1371600" y="2999232"/>
            <a:ext cx="2103120" cy="621792"/>
          </a:xfrm>
          <a:prstGeom prst="line">
            <a:avLst/>
          </a:prstGeom>
          <a:noFill/>
          <a:ln w="12700">
            <a:solidFill>
              <a:srgbClr val="202124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2194560" y="3675888"/>
            <a:ext cx="1143000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0F778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40280" y="37673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time_frequency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 flipH="1">
            <a:off x="2761488" y="2999232"/>
            <a:ext cx="713232" cy="621792"/>
          </a:xfrm>
          <a:prstGeom prst="line">
            <a:avLst/>
          </a:prstGeom>
          <a:noFill/>
          <a:ln w="12700">
            <a:solidFill>
              <a:srgbClr val="202124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3584448" y="3675888"/>
            <a:ext cx="1143000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0F778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30168" y="37673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ridge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474720" y="2999232"/>
            <a:ext cx="676656" cy="621792"/>
          </a:xfrm>
          <a:prstGeom prst="line">
            <a:avLst/>
          </a:prstGeom>
          <a:noFill/>
          <a:ln w="12700">
            <a:solidFill>
              <a:srgbClr val="202124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4974336" y="3675888"/>
            <a:ext cx="1143000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0F778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0056" y="37673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physics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474720" y="2999232"/>
            <a:ext cx="2066544" cy="621792"/>
          </a:xfrm>
          <a:prstGeom prst="line">
            <a:avLst/>
          </a:prstGeom>
          <a:noFill/>
          <a:ln w="12700">
            <a:solidFill>
              <a:srgbClr val="202124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6537960" y="1051560"/>
            <a:ext cx="329184" cy="329184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37960" y="1060704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967728" y="10241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单向依赖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6967728" y="129844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入口 → production I/O → core.workflow → 算法模块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537960" y="1929384"/>
            <a:ext cx="329184" cy="329184"/>
          </a:xfrm>
          <a:prstGeom prst="ellipse">
            <a:avLst/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37960" y="1938528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967728" y="19019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边界明确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6967728" y="217627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 不导入 scripts、Matplotlib 或 GUI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537960" y="2807208"/>
            <a:ext cx="329184" cy="329184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37960" y="2816352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6967728" y="27797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GUI 尚未实现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6967728" y="305409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未来只能调用 core 公共 API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537960" y="3685032"/>
            <a:ext cx="329184" cy="329184"/>
          </a:xfrm>
          <a:prstGeom prst="ellipse">
            <a:avLst/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37960" y="3694176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6967728" y="36576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输出可追溯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6967728" y="3931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manifest 记录配置、哈希、Git 状态和文件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01168"/>
            <a:ext cx="100584" cy="393192"/>
          </a:xfrm>
          <a:prstGeom prst="roundRect">
            <a:avLst>
              <a:gd name="adj" fmla="val 36364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92024"/>
            <a:ext cx="7973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当前工作树已形成可运行闭环；质量门通过但尚未发布</a:t>
            </a:r>
            <a:endParaRPr lang="en-US" sz="2450" dirty="0"/>
          </a:p>
        </p:txBody>
      </p:sp>
      <p:sp>
        <p:nvSpPr>
          <p:cNvPr id="5" name="Shape 3"/>
          <p:cNvSpPr/>
          <p:nvPr/>
        </p:nvSpPr>
        <p:spPr>
          <a:xfrm>
            <a:off x="8641080" y="128016"/>
            <a:ext cx="384048" cy="493776"/>
          </a:xfrm>
          <a:prstGeom prst="chevron">
            <a:avLst/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13648" y="4828032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02920" y="1051560"/>
            <a:ext cx="1371600" cy="640080"/>
          </a:xfrm>
          <a:prstGeom prst="chevron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161288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基础闭环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755648" y="1051560"/>
            <a:ext cx="4096512" cy="640080"/>
          </a:xfrm>
          <a:prstGeom prst="roundRect">
            <a:avLst>
              <a:gd name="adj" fmla="val 5714"/>
            </a:avLst>
          </a:prstGeom>
          <a:solidFill>
            <a:srgbClr val="F7E7E2"/>
          </a:solidFill>
          <a:ln w="10160">
            <a:solidFill>
              <a:srgbClr val="B4231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65960" y="119786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输入安全 · STFT · 脊线 · 精修 · 表观速度 · 描述性质量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1856232"/>
            <a:ext cx="1371600" cy="640080"/>
          </a:xfrm>
          <a:prstGeom prst="chevron">
            <a:avLst/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96596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基本可用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755648" y="1856232"/>
            <a:ext cx="4096512" cy="640080"/>
          </a:xfrm>
          <a:prstGeom prst="roundRect">
            <a:avLst>
              <a:gd name="adj" fmla="val 5714"/>
            </a:avLst>
          </a:prstGeom>
          <a:solidFill>
            <a:srgbClr val="E7F2F3"/>
          </a:solidFill>
          <a:ln w="10160">
            <a:solidFill>
              <a:srgbClr val="0F778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65960" y="200253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 Profile · 双通道 production · manifest · 真实输出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2660904"/>
            <a:ext cx="1371600" cy="640080"/>
          </a:xfrm>
          <a:prstGeom prst="chevron">
            <a:avLst/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770632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正在优化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1755648" y="2660904"/>
            <a:ext cx="4096512" cy="640080"/>
          </a:xfrm>
          <a:prstGeom prst="roundRect">
            <a:avLst>
              <a:gd name="adj" fmla="val 5714"/>
            </a:avLst>
          </a:prstGeom>
          <a:solidFill>
            <a:srgbClr val="E7F2F3"/>
          </a:solidFill>
          <a:ln w="10160">
            <a:solidFill>
              <a:srgbClr val="0F778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65960" y="280720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弱信号决策 · preview 语义 · 文档与输出契约同步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" y="3465576"/>
            <a:ext cx="1371600" cy="640080"/>
          </a:xfrm>
          <a:prstGeom prst="chevron">
            <a:avLst/>
          </a:prstGeom>
          <a:solidFill>
            <a:srgbClr val="767A7F"/>
          </a:solidFill>
          <a:ln w="12700">
            <a:solidFill>
              <a:srgbClr val="767A7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575304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尚未实现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1755648" y="3465576"/>
            <a:ext cx="4096512" cy="640080"/>
          </a:xfrm>
          <a:prstGeom prst="roundRect">
            <a:avLst>
              <a:gd name="adj" fmla="val 5714"/>
            </a:avLst>
          </a:prstGeom>
          <a:solidFill>
            <a:srgbClr val="F1F2F3"/>
          </a:solidFill>
          <a:ln w="10160">
            <a:solidFill>
              <a:srgbClr val="A6A9A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65960" y="36118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GUI · 完整 CLI · LiF 修正 · 可靠阈值 · 部署验证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263640" y="111556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271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7479792" y="129844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tests passed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63640" y="216712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7479792" y="235000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 files · mypy passed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63640" y="321868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7479792" y="340156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production files · 最新真实 run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0" y="4069080"/>
            <a:ext cx="2148840" cy="347472"/>
          </a:xfrm>
          <a:prstGeom prst="roundRect">
            <a:avLst>
              <a:gd name="adj" fmla="val 26316"/>
            </a:avLst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407822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Ruff · All checks passed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30352" y="4315968"/>
            <a:ext cx="5349240" cy="457200"/>
          </a:xfrm>
          <a:prstGeom prst="roundRect">
            <a:avLst>
              <a:gd name="adj" fmla="val 16000"/>
            </a:avLst>
          </a:prstGeom>
          <a:solidFill>
            <a:srgbClr val="F7E7E2"/>
          </a:solidFill>
          <a:ln w="12700">
            <a:solidFill>
              <a:srgbClr val="F7E7E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4944" y="4389120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490472" y="4389120"/>
            <a:ext cx="4224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HEAD 11b761f｜dirty worktree ≠ released version｜尚未发布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01168"/>
            <a:ext cx="100584" cy="393192"/>
          </a:xfrm>
          <a:prstGeom prst="roundRect">
            <a:avLst>
              <a:gd name="adj" fmla="val 36364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92024"/>
            <a:ext cx="7973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5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真实运行显示两通道结果同量级，但不能自动判定“哪个更可信”</a:t>
            </a:r>
            <a:endParaRPr lang="en-US" sz="2150" dirty="0"/>
          </a:p>
        </p:txBody>
      </p:sp>
      <p:sp>
        <p:nvSpPr>
          <p:cNvPr id="5" name="Shape 3"/>
          <p:cNvSpPr/>
          <p:nvPr/>
        </p:nvSpPr>
        <p:spPr>
          <a:xfrm>
            <a:off x="8641080" y="128016"/>
            <a:ext cx="384048" cy="493776"/>
          </a:xfrm>
          <a:prstGeom prst="chevron">
            <a:avLst/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13648" y="4828032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950976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0F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244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502920" y="138988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两通道各 244 个候选帧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91840" y="950976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F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538 / 532 m/s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3291840" y="138988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两通道首候选表观速度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80760" y="950976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F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≈212 m/s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6080760" y="138988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候选最低表观速度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173736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Balanced / 通道 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36592" y="173736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Balanced / 通道 2</a:t>
            </a:r>
            <a:endParaRPr lang="en-US" sz="13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457200" y="1993392"/>
          <a:ext cx="4041648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6" name="Chart 1" descr=""/>
          <p:cNvGraphicFramePr/>
          <p:nvPr/>
        </p:nvGraphicFramePr>
        <p:xfrm>
          <a:off x="4645152" y="1993392"/>
          <a:ext cx="4041648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Text 13"/>
          <p:cNvSpPr/>
          <p:nvPr/>
        </p:nvSpPr>
        <p:spPr>
          <a:xfrm>
            <a:off x="777240" y="4261104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相对事件时间 (μs)｜无符号表观速度 (m/s)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4965192" y="4261104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相对事件时间 (μs)｜无符号表观速度 (m/s)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502920" y="4498848"/>
            <a:ext cx="8138160" cy="329184"/>
          </a:xfrm>
          <a:prstGeom prst="roundRect">
            <a:avLst>
              <a:gd name="adj" fmla="val 22222"/>
            </a:avLst>
          </a:prstGeom>
          <a:solidFill>
            <a:srgbClr val="F7E7E2"/>
          </a:solidFill>
          <a:ln w="12700">
            <a:solidFill>
              <a:srgbClr val="F7E7E2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67512" y="4572000"/>
            <a:ext cx="7808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一致性是重复性线索，不是物理准确度证明；不得自动选择、平均或融合通道。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01168"/>
            <a:ext cx="100584" cy="393192"/>
          </a:xfrm>
          <a:prstGeom prst="roundRect">
            <a:avLst>
              <a:gd name="adj" fmla="val 36364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92024"/>
            <a:ext cx="7973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软件能运行，不等于结果已达到科研使用标准</a:t>
            </a:r>
            <a:endParaRPr lang="en-US" sz="2450" dirty="0"/>
          </a:p>
        </p:txBody>
      </p:sp>
      <p:sp>
        <p:nvSpPr>
          <p:cNvPr id="5" name="Shape 3"/>
          <p:cNvSpPr/>
          <p:nvPr/>
        </p:nvSpPr>
        <p:spPr>
          <a:xfrm>
            <a:off x="8641080" y="128016"/>
            <a:ext cx="384048" cy="493776"/>
          </a:xfrm>
          <a:prstGeom prst="chevron">
            <a:avLst/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13648" y="4828032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987552"/>
            <a:ext cx="3337560" cy="822960"/>
          </a:xfrm>
          <a:prstGeom prst="roundRect">
            <a:avLst>
              <a:gd name="adj" fmla="val 8889"/>
            </a:avLst>
          </a:prstGeom>
          <a:solidFill>
            <a:srgbClr val="E7F2F3"/>
          </a:solidFill>
          <a:ln w="12700">
            <a:solidFill>
              <a:srgbClr val="0F77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115568"/>
            <a:ext cx="3008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基础闭环已建立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13232" y="1453896"/>
            <a:ext cx="30083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可运行｜工程质量门已通过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96512" y="100584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≠</a:t>
            </a:r>
            <a:endParaRPr lang="en-US" sz="4400" dirty="0"/>
          </a:p>
        </p:txBody>
      </p:sp>
      <p:sp>
        <p:nvSpPr>
          <p:cNvPr id="11" name="Shape 9"/>
          <p:cNvSpPr/>
          <p:nvPr/>
        </p:nvSpPr>
        <p:spPr>
          <a:xfrm>
            <a:off x="5230368" y="987552"/>
            <a:ext cx="3337560" cy="822960"/>
          </a:xfrm>
          <a:prstGeom prst="roundRect">
            <a:avLst>
              <a:gd name="adj" fmla="val 8889"/>
            </a:avLst>
          </a:prstGeom>
          <a:solidFill>
            <a:srgbClr val="F7E7E2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94960" y="1115568"/>
            <a:ext cx="3008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科研级可信仍未完成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94960" y="1453896"/>
            <a:ext cx="30083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需实验依据｜需质量判断｜需交付验证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" y="2267712"/>
            <a:ext cx="310896" cy="310896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2276856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2121408"/>
            <a:ext cx="2523744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224942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脊线连续性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67512" y="258775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逐帧最大峰仍无最大跳频、动态规划或连续性约束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3438144" y="2267712"/>
            <a:ext cx="310896" cy="310896"/>
          </a:xfrm>
          <a:prstGeom prst="ellipse">
            <a:avLst/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38144" y="2276856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310128" y="2121408"/>
            <a:ext cx="2523744" cy="1078992"/>
          </a:xfrm>
          <a:prstGeom prst="roundRect">
            <a:avLst>
              <a:gd name="adj" fmla="val 6780"/>
            </a:avLst>
          </a:prstGeom>
          <a:solidFill>
            <a:srgbClr val="E7F2F3"/>
          </a:solidFill>
          <a:ln w="12700">
            <a:solidFill>
              <a:srgbClr val="B8DA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224942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质量阈值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474720" y="258775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描述性质量量无正式阈值，不能自动拒绝假峰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6245352" y="2267712"/>
            <a:ext cx="310896" cy="310896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45352" y="2276856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117336" y="2121408"/>
            <a:ext cx="2523744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81928" y="224942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物理参数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281928" y="258775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1550 nm 未确认；LiF、折射率与 corrected velocity 未实现</a:t>
            </a:r>
            <a:endParaRPr lang="en-US" sz="1030" dirty="0"/>
          </a:p>
        </p:txBody>
      </p:sp>
      <p:sp>
        <p:nvSpPr>
          <p:cNvPr id="29" name="Shape 27"/>
          <p:cNvSpPr/>
          <p:nvPr/>
        </p:nvSpPr>
        <p:spPr>
          <a:xfrm>
            <a:off x="1984248" y="3666744"/>
            <a:ext cx="310896" cy="310896"/>
          </a:xfrm>
          <a:prstGeom prst="ellipse">
            <a:avLst/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984248" y="3675888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856232" y="3520440"/>
            <a:ext cx="2523744" cy="1078992"/>
          </a:xfrm>
          <a:prstGeom prst="roundRect">
            <a:avLst>
              <a:gd name="adj" fmla="val 6780"/>
            </a:avLst>
          </a:prstGeom>
          <a:solidFill>
            <a:srgbClr val="E7F2F3"/>
          </a:solidFill>
          <a:ln w="12700">
            <a:solidFill>
              <a:srgbClr val="B8DA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20824" y="364845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preview 语义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2020824" y="3986784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全时段 preview 未经过正式质量门，不是正式低速测量</a:t>
            </a:r>
            <a:endParaRPr lang="en-US" sz="1030" dirty="0"/>
          </a:p>
        </p:txBody>
      </p:sp>
      <p:sp>
        <p:nvSpPr>
          <p:cNvPr id="34" name="Shape 32"/>
          <p:cNvSpPr/>
          <p:nvPr/>
        </p:nvSpPr>
        <p:spPr>
          <a:xfrm>
            <a:off x="4892040" y="3666744"/>
            <a:ext cx="310896" cy="310896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3675888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764024" y="3520440"/>
            <a:ext cx="2523744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28616" y="364845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交付能力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4928616" y="3986784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GUI、完整 CLI、集成测试、打包和跨机器部署未完成</a:t>
            </a:r>
            <a:endParaRPr lang="en-US" sz="103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01168"/>
            <a:ext cx="100584" cy="393192"/>
          </a:xfrm>
          <a:prstGeom prst="roundRect">
            <a:avLst>
              <a:gd name="adj" fmla="val 36364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92024"/>
            <a:ext cx="7973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5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下一阶段优先建立可信判据，再推进修正模型和 GUI</a:t>
            </a:r>
            <a:endParaRPr lang="en-US" sz="2150" dirty="0"/>
          </a:p>
        </p:txBody>
      </p:sp>
      <p:sp>
        <p:nvSpPr>
          <p:cNvPr id="5" name="Shape 3"/>
          <p:cNvSpPr/>
          <p:nvPr/>
        </p:nvSpPr>
        <p:spPr>
          <a:xfrm>
            <a:off x="8641080" y="128016"/>
            <a:ext cx="384048" cy="493776"/>
          </a:xfrm>
          <a:prstGeom prst="chevron">
            <a:avLst/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13648" y="4828032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0" y="87782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下一阶段计划｜按依赖推进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94360" y="3227832"/>
            <a:ext cx="411480" cy="411480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3236976"/>
            <a:ext cx="411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05256" y="3337560"/>
            <a:ext cx="128016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9848" y="3465576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谱线连续性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69848" y="3803904"/>
            <a:ext cx="950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 AI 连续跟踪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搜索范围 · 物理先验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 flipV="1">
            <a:off x="2103120" y="3255264"/>
            <a:ext cx="457200" cy="310896"/>
          </a:xfrm>
          <a:prstGeom prst="line">
            <a:avLst/>
          </a:prstGeom>
          <a:noFill/>
          <a:ln w="2286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148840" y="2633472"/>
            <a:ext cx="411480" cy="411480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48840" y="2642616"/>
            <a:ext cx="411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459736" y="2743200"/>
            <a:ext cx="1280160" cy="1078992"/>
          </a:xfrm>
          <a:prstGeom prst="roundRect">
            <a:avLst>
              <a:gd name="adj" fmla="val 6780"/>
            </a:avLst>
          </a:prstGeom>
          <a:solidFill>
            <a:srgbClr val="F6F1EE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24328" y="2871216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可验证判据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624328" y="3209544"/>
            <a:ext cx="950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起跳点 · 平台区 · 弱信号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自动测试 / 验收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 flipV="1">
            <a:off x="3657600" y="2660904"/>
            <a:ext cx="457200" cy="310896"/>
          </a:xfrm>
          <a:prstGeom prst="line">
            <a:avLst/>
          </a:prstGeom>
          <a:noFill/>
          <a:ln w="2286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794760" y="2130552"/>
            <a:ext cx="411480" cy="411480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94760" y="2139696"/>
            <a:ext cx="411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105656" y="2240280"/>
            <a:ext cx="128016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70248" y="2368296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通道质量择优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270248" y="2706624"/>
            <a:ext cx="950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先输出证据，再标定阈值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对照测试 / 验收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 flipV="1">
            <a:off x="5303520" y="2157984"/>
            <a:ext cx="457200" cy="310896"/>
          </a:xfrm>
          <a:prstGeom prst="line">
            <a:avLst/>
          </a:prstGeom>
          <a:noFill/>
          <a:ln w="2286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486400" y="1627632"/>
            <a:ext cx="411480" cy="411480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0" y="1636776"/>
            <a:ext cx="411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797296" y="1737360"/>
            <a:ext cx="1280160" cy="1078992"/>
          </a:xfrm>
          <a:prstGeom prst="roundRect">
            <a:avLst>
              <a:gd name="adj" fmla="val 6780"/>
            </a:avLst>
          </a:prstGeom>
          <a:solidFill>
            <a:srgbClr val="F6F1EE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61888" y="1865376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修正模型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961888" y="2203704"/>
            <a:ext cx="950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核验波长与 LiF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验证后接入 corrected velocity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 flipV="1">
            <a:off x="6995160" y="1655064"/>
            <a:ext cx="457200" cy="310896"/>
          </a:xfrm>
          <a:prstGeom prst="line">
            <a:avLst/>
          </a:prstGeom>
          <a:noFill/>
          <a:ln w="2286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178040" y="1152144"/>
            <a:ext cx="411480" cy="411480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78040" y="1161288"/>
            <a:ext cx="411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488936" y="1261872"/>
            <a:ext cx="128016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53528" y="1389888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交付链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7653528" y="1728216"/>
            <a:ext cx="950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CLI → GUI → 打包部署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真实用户验收</a:t>
            </a:r>
            <a:endParaRPr lang="en-US" sz="820" dirty="0"/>
          </a:p>
        </p:txBody>
      </p:sp>
      <p:sp>
        <p:nvSpPr>
          <p:cNvPr id="37" name="Shape 35"/>
          <p:cNvSpPr/>
          <p:nvPr/>
        </p:nvSpPr>
        <p:spPr>
          <a:xfrm>
            <a:off x="594360" y="1115568"/>
            <a:ext cx="2331720" cy="658368"/>
          </a:xfrm>
          <a:prstGeom prst="roundRect">
            <a:avLst>
              <a:gd name="adj" fmla="val 8333"/>
            </a:avLst>
          </a:prstGeom>
          <a:solidFill>
            <a:srgbClr val="E7F2F3"/>
          </a:solidFill>
          <a:ln w="12700">
            <a:solidFill>
              <a:srgbClr val="0F778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9808" y="1225296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辅助识别（后期）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1783080" y="120700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仅辅助候选识别，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不直接生成最终速度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48640" y="4535424"/>
            <a:ext cx="8046720" cy="329184"/>
          </a:xfrm>
          <a:prstGeom prst="roundRect">
            <a:avLst>
              <a:gd name="adj" fmla="val 22222"/>
            </a:avLst>
          </a:prstGeom>
          <a:solidFill>
            <a:srgbClr val="F6F1EE"/>
          </a:solidFill>
          <a:ln w="12700">
            <a:solidFill>
              <a:srgbClr val="E5D6D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3232" y="4608576"/>
            <a:ext cx="7717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验收原则：每个功能都必须有自动测试和明确验收标准｜以上均为计划，非已完成。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从“跑通”到“可信”：DPS Studio 的下一阶段</a:t>
            </a:r>
            <a:endParaRPr lang="en-US" sz="225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8138160" cy="2971800"/>
          </a:xfrm>
          <a:prstGeom prst="roundRect">
            <a:avLst>
              <a:gd name="adj" fmla="val 3692"/>
            </a:avLst>
          </a:prstGeom>
          <a:solidFill>
            <a:srgbClr val="8E1B10"/>
          </a:solidFill>
          <a:ln w="12700">
            <a:solidFill>
              <a:srgbClr val="8E1B1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57276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2980944" y="1627632"/>
            <a:ext cx="0" cy="512064"/>
          </a:xfrm>
          <a:prstGeom prst="line">
            <a:avLst/>
          </a:prstGeom>
          <a:noFill/>
          <a:ln w="15240">
            <a:solidFill>
              <a:srgbClr val="EBC8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0" y="157276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可复现</a:t>
            </a:r>
            <a:endParaRPr lang="en-US" sz="3700" dirty="0"/>
          </a:p>
        </p:txBody>
      </p:sp>
      <p:sp>
        <p:nvSpPr>
          <p:cNvPr id="7" name="Shape 5"/>
          <p:cNvSpPr/>
          <p:nvPr/>
        </p:nvSpPr>
        <p:spPr>
          <a:xfrm>
            <a:off x="5724144" y="1627632"/>
            <a:ext cx="0" cy="512064"/>
          </a:xfrm>
          <a:prstGeom prst="line">
            <a:avLst/>
          </a:prstGeom>
          <a:noFill/>
          <a:ln w="15240">
            <a:solidFill>
              <a:srgbClr val="EBC8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57276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可交付</a:t>
            </a:r>
            <a:endParaRPr lang="en-US" sz="3700" dirty="0"/>
          </a:p>
        </p:txBody>
      </p:sp>
      <p:sp>
        <p:nvSpPr>
          <p:cNvPr id="9" name="Shape 7"/>
          <p:cNvSpPr/>
          <p:nvPr/>
        </p:nvSpPr>
        <p:spPr>
          <a:xfrm>
            <a:off x="914400" y="2487168"/>
            <a:ext cx="841248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2514600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已有：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993392" y="2523744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双通道、双 Profile、正式 core workflow、真实 production 输出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3054096"/>
            <a:ext cx="841248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3081528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仍需：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993392" y="3090672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可信谱线、通道决策、波长与 LiF 模型验证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3621024"/>
            <a:ext cx="841248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" y="3648456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后续：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993392" y="365760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数值链稳定后推进 CLI / GUI、打包和用户验收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017520" y="446227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请老师批评指正</a:t>
            </a:r>
            <a:endParaRPr lang="en-US" sz="2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DPS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DPS Studio：从原始 PDV 信号到可追溯的表观速度</dc:title>
  <dc:subject>DPS Studio 课题组组会汇报</dc:subject>
  <dc:creator>DPS Studio project</dc:creator>
  <cp:lastModifiedBy>DPS Studio project</cp:lastModifiedBy>
  <cp:revision>1</cp:revision>
  <dcterms:created xsi:type="dcterms:W3CDTF">2026-07-25T14:08:53Z</dcterms:created>
  <dcterms:modified xsi:type="dcterms:W3CDTF">2026-07-25T14:08:53Z</dcterms:modified>
</cp:coreProperties>
</file>