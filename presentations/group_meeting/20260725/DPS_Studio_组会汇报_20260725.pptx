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ln w="31750" cap="flat" cmpd="sng" algn="ctr">
              <a:solidFill>
                <a:srgbClr val="0F77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785"/>
              </a:solidFill>
              <a:ln w="9525" cap="flat" cmpd="sng" algn="ctr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0.003</c:v>
                </c:pt>
                <c:pt idx="1">
                  <c:v>0.022</c:v>
                </c:pt>
                <c:pt idx="2">
                  <c:v>0.041</c:v>
                </c:pt>
                <c:pt idx="3">
                  <c:v>0.06</c:v>
                </c:pt>
                <c:pt idx="4">
                  <c:v>0.079</c:v>
                </c:pt>
                <c:pt idx="5">
                  <c:v>0.099</c:v>
                </c:pt>
                <c:pt idx="6">
                  <c:v>0.118</c:v>
                </c:pt>
                <c:pt idx="7">
                  <c:v>0.137</c:v>
                </c:pt>
                <c:pt idx="8">
                  <c:v>0.156</c:v>
                </c:pt>
                <c:pt idx="9">
                  <c:v>0.175</c:v>
                </c:pt>
                <c:pt idx="10">
                  <c:v>0.195</c:v>
                </c:pt>
                <c:pt idx="11">
                  <c:v>0.198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537.94</c:v>
                </c:pt>
                <c:pt idx="1">
                  <c:v>558.02</c:v>
                </c:pt>
                <c:pt idx="2">
                  <c:v>569.05</c:v>
                </c:pt>
                <c:pt idx="3">
                  <c:v>571.25</c:v>
                </c:pt>
                <c:pt idx="4">
                  <c:v>563.12</c:v>
                </c:pt>
                <c:pt idx="5">
                  <c:v>565.33</c:v>
                </c:pt>
                <c:pt idx="6">
                  <c:v>566.24</c:v>
                </c:pt>
                <c:pt idx="7">
                  <c:v>563.96</c:v>
                </c:pt>
                <c:pt idx="8">
                  <c:v>563.35</c:v>
                </c:pt>
                <c:pt idx="9">
                  <c:v>563.96</c:v>
                </c:pt>
                <c:pt idx="10">
                  <c:v>564.59</c:v>
                </c:pt>
                <c:pt idx="11">
                  <c:v>564.74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2676D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 cmpd="sng" algn="ctr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2676D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4e56b60-4fca-4424-8a11-b7e8877d3e50}"/>
      </c:ext>
    </c:extLst>
  </c:chart>
  <c:spPr>
    <a:solidFill>
      <a:srgbClr val="FFFFFF"/>
    </a:solidFill>
    <a:ln w="12700" cap="flat">
      <a:solidFill>
        <a:srgbClr val="E5D6D0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95223730517848"/>
          <c:y val="0.111655773420479"/>
          <c:w val="0.886060834590246"/>
          <c:h val="0.817483660130719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ln w="31750" cap="flat" cmpd="sng" algn="ctr">
              <a:solidFill>
                <a:srgbClr val="0F77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785"/>
              </a:solidFill>
              <a:ln w="9525" cap="flat" cmpd="sng" algn="ctr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0.003</c:v>
                </c:pt>
                <c:pt idx="1">
                  <c:v>0.022</c:v>
                </c:pt>
                <c:pt idx="2">
                  <c:v>0.041</c:v>
                </c:pt>
                <c:pt idx="3">
                  <c:v>0.06</c:v>
                </c:pt>
                <c:pt idx="4">
                  <c:v>0.079</c:v>
                </c:pt>
                <c:pt idx="5">
                  <c:v>0.099</c:v>
                </c:pt>
                <c:pt idx="6">
                  <c:v>0.118</c:v>
                </c:pt>
                <c:pt idx="7">
                  <c:v>0.137</c:v>
                </c:pt>
                <c:pt idx="8">
                  <c:v>0.156</c:v>
                </c:pt>
                <c:pt idx="9">
                  <c:v>0.175</c:v>
                </c:pt>
                <c:pt idx="10">
                  <c:v>0.195</c:v>
                </c:pt>
                <c:pt idx="11">
                  <c:v>0.198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531.83</c:v>
                </c:pt>
                <c:pt idx="1">
                  <c:v>557.83</c:v>
                </c:pt>
                <c:pt idx="2">
                  <c:v>569.11</c:v>
                </c:pt>
                <c:pt idx="3">
                  <c:v>571.2</c:v>
                </c:pt>
                <c:pt idx="4">
                  <c:v>563.09</c:v>
                </c:pt>
                <c:pt idx="5">
                  <c:v>565.27</c:v>
                </c:pt>
                <c:pt idx="6">
                  <c:v>566.19</c:v>
                </c:pt>
                <c:pt idx="7">
                  <c:v>563.94</c:v>
                </c:pt>
                <c:pt idx="8">
                  <c:v>563.31</c:v>
                </c:pt>
                <c:pt idx="9">
                  <c:v>564</c:v>
                </c:pt>
                <c:pt idx="10">
                  <c:v>564.61</c:v>
                </c:pt>
                <c:pt idx="11">
                  <c:v>564.73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2676D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 cmpd="sng" algn="ctr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2676D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bdfe636-0278-464d-9a51-6af73d1a5beb}"/>
      </c:ext>
    </c:extLst>
  </c:chart>
  <c:spPr>
    <a:solidFill>
      <a:srgbClr val="FFFFFF"/>
    </a:solidFill>
    <a:ln w="12700" cap="flat">
      <a:solidFill>
        <a:srgbClr val="E5D6D0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1.pn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5200"/>
            <a:ext cx="4663440" cy="779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PDV</a:t>
            </a:r>
            <a:r>
              <a:rPr lang="zh-CN" altLang="en-US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数据处理</a:t>
            </a:r>
            <a:r>
              <a:rPr lang="en-US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38785" y="1864360"/>
            <a:ext cx="4480560" cy="588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CED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481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课题组组会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71729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D9D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2026年7月27日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当前是可运行的数值分析工作流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速度曲线连接实验信号与后续物理判断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530352" y="112471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2340864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4517136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6693408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>
            <p:custDataLst>
              <p:tags r:id="rId23"/>
            </p:custDataLst>
          </p:nvPr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>
            <p:custDataLst>
              <p:tags r:id="rId24"/>
            </p:custDataLst>
          </p:nvPr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>
            <p:custDataLst>
              <p:tags r:id="rId25"/>
            </p:custDataLst>
          </p:nvPr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>
            <p:custDataLst>
              <p:tags r:id="rId26"/>
            </p:custDataLst>
          </p:nvPr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959352"/>
            <a:ext cx="6858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3959352"/>
            <a:ext cx="7013448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  <p:sp>
        <p:nvSpPr>
          <p:cNvPr id="39" name="Shape 15"/>
          <p:cNvSpPr/>
          <p:nvPr>
            <p:custDataLst>
              <p:tags r:id="rId27"/>
            </p:custDataLst>
          </p:nvPr>
        </p:nvSpPr>
        <p:spPr>
          <a:xfrm>
            <a:off x="4919345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8262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新旧软件</a:t>
            </a:r>
            <a:r>
              <a:rPr lang="zh-CN" alt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endParaRPr lang="zh-CN" altLang="en-US" sz="24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313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9301" y="1252474"/>
            <a:ext cx="18013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旧输出曲线</a:t>
            </a:r>
            <a:endParaRPr lang="en-US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回归指纹 ≠ 物理真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6254496" y="1261999"/>
            <a:ext cx="18013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</a:t>
            </a:r>
            <a:r>
              <a:rPr lang="en-US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输出曲线</a:t>
            </a:r>
            <a:endParaRPr lang="en-US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1" name="图片 40" descr="apparent_velocity_full_t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1746250"/>
            <a:ext cx="4371340" cy="258381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" y="1746250"/>
            <a:ext cx="4157980" cy="2533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重建：把算法、配置和验证放进同一工作流</a:t>
            </a:r>
            <a:endParaRPr lang="en-US" sz="20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66923" y="1879092"/>
            <a:ext cx="288950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975" y="198424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core / workflow</a:t>
            </a:r>
            <a:endParaRPr lang="en-US" sz="1400" b="1" dirty="0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91840" y="2322576"/>
            <a:ext cx="256032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 · 配置 · 验证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615" y="88214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631" y="102844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223" y="1010158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数值计算</a:t>
            </a:r>
            <a:endParaRPr lang="en-US" sz="16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223" y="1348486"/>
            <a:ext cx="189280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NumPy + SciPy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数组、Hann 窗、STFT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可复现输出</a:t>
            </a:r>
            <a:endParaRPr lang="en-US" sz="16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Matplotlib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production 图与实验输出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2990215"/>
            <a:ext cx="2331720" cy="12636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交互与交付</a:t>
            </a:r>
            <a:endParaRPr lang="en-US" sz="16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PySide6 + PyQtGraph：GUI 待实现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PyInstaller：跨机器打包待验证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质量验证</a:t>
            </a:r>
            <a:endParaRPr lang="en-US" sz="16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pytest + Ruff + mypy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271 passed｜39 个源文件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271 tests passed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Ruff 全部通过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mypy 39 files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处理链已</a:t>
            </a:r>
            <a:r>
              <a:rPr lang="zh-CN" alt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r>
              <a:rPr 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表观速度闭环</a:t>
            </a:r>
            <a:endParaRPr lang="en-US" sz="24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</a:t>
            </a:r>
            <a:endParaRPr lang="en-US" sz="1400" b="1" dirty="0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只读输入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STFT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峰脊线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三点精修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无符号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表观速度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描述性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非覆盖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5060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42632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0648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物理修正隔离闸门</a:t>
            </a:r>
            <a:endParaRPr lang="en-US" sz="1000" b="1" dirty="0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860157" y="1143127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尚未实现</a:t>
            </a:r>
            <a:endParaRPr lang="en-US" sz="1200" b="1" dirty="0">
              <a:solidFill>
                <a:srgbClr val="6267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860030" y="1444625"/>
            <a:ext cx="960120" cy="1234440"/>
          </a:xfrm>
          <a:prstGeom prst="roundRect">
            <a:avLst>
              <a:gd name="adj" fmla="val 4762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1470" y="1417320"/>
            <a:ext cx="777240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LiF 修正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corrected velocity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有符号速度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通道融合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</a:t>
            </a:r>
            <a:endParaRPr lang="en-US" sz="850" dirty="0">
              <a:solidFill>
                <a:srgbClr val="6267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6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正在完善</a:t>
            </a:r>
            <a:endParaRPr lang="en-US" sz="1400" b="1" dirty="0">
              <a:solidFill>
                <a:srgbClr val="D96B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6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弱信号判据</a:t>
            </a:r>
            <a:endParaRPr lang="en-US" sz="1400" b="1" dirty="0">
              <a:solidFill>
                <a:srgbClr val="D96B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从描述性质量推进到可验证阈值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6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双通道质量决策</a:t>
            </a:r>
            <a:endParaRPr lang="en-US" sz="1400" b="1" dirty="0">
              <a:solidFill>
                <a:srgbClr val="D96B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先输出证据，再建立择优规则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6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preview 语义</a:t>
            </a:r>
            <a:endParaRPr lang="en-US" sz="1400" b="1" dirty="0">
              <a:solidFill>
                <a:srgbClr val="D96B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 development preview 与正式结果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4169664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</a:t>
            </a:r>
            <a:endParaRPr lang="en-US" sz="1200" b="1" dirty="0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463040" y="4169664"/>
            <a:ext cx="701344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当前闭环止于无符号表观速度与描述性质量；全时段 preview 不是正式测量。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pic>
        <p:nvPicPr>
          <p:cNvPr id="31" name="图片 30" descr="stft_full_ba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3170" y="1297940"/>
            <a:ext cx="5076190" cy="2999740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>
            <a:off x="693928" y="319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</a:t>
            </a:r>
            <a:r>
              <a:rPr lang="zh-CN" alt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频谱图</a:t>
            </a:r>
            <a:endParaRPr lang="zh-CN" altLang="en-US" sz="24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STFT 将时变拍频转换为可追踪的时频脊线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blurRad="25400" dist="12700" dir="2700000" algn="bl" rotWithShape="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1459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脊线给出拍频轨迹；只有显式波长才能换算表观速度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F7785"/>
                </a:solidFill>
                <a:latin typeface="Times New Roman" panose="02020603050405020304" charset="0"/>
                <a:ea typeface="Cambria Math" panose="02040503050406030204" pitchFamily="34" charset="-122"/>
                <a:cs typeface="Times New Roman" panose="02020603050405020304" charset="0"/>
              </a:rPr>
              <a:t>vₐₚₚ = λ₀ fᵦ / 2</a:t>
            </a:r>
            <a:endParaRPr lang="en-US" sz="2400" i="1" dirty="0">
              <a:solidFill>
                <a:srgbClr val="0F7785"/>
              </a:solidFill>
              <a:latin typeface="Times New Roman" panose="02020603050405020304" charset="0"/>
              <a:ea typeface="Cambria Math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18541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8E1B1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λ₀ = 1.55 μm</a:t>
            </a:r>
            <a:endParaRPr lang="en-US" b="1" dirty="0">
              <a:solidFill>
                <a:srgbClr val="8E1B1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2523744"/>
            <a:ext cx="264261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未确认的演示值，不作为实验参数结论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5409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失败保持 </a:t>
            </a:r>
            <a:r>
              <a:rPr lang="en-US" sz="1600" b="1" dirty="0">
                <a:solidFill>
                  <a:srgbClr val="8E1B1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NaN</a:t>
            </a:r>
            <a:endParaRPr lang="en-US" sz="1600" b="1" dirty="0">
              <a:solidFill>
                <a:srgbClr val="8E1B1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" y="3369564"/>
            <a:ext cx="264261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精修失败与 PRE_EVENT 核心速度均不伪造数值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92277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" y="4215384"/>
            <a:ext cx="264261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apparent velocity 与未来 corrected velocity 必须分开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Balanced / 通道 1｜正式候选帧</a:t>
            </a:r>
            <a:endParaRPr lang="en-US" sz="1400" dirty="0"/>
          </a:p>
        </p:txBody>
      </p:sp>
      <p:pic>
        <p:nvPicPr>
          <p:cNvPr id="21" name="图片 20" descr="apparent_velocity_full_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350645"/>
            <a:ext cx="4958715" cy="2930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双通道独立分析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两个量程分别执行 STFT、脊线与速度换算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通道 2 数值较高 ≠ 自动更可信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这些 dB 不是正式 SNR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当前没有 GOOD/BAD 阈值或自动融合</a:t>
            </a:r>
            <a:endParaRPr lang="en-US" sz="1220" dirty="0"/>
          </a:p>
        </p:txBody>
      </p:sp>
      <p:pic>
        <p:nvPicPr>
          <p:cNvPr id="15" name="图片 14" descr="apparent_velocity_full_tim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510" y="732790"/>
            <a:ext cx="3673475" cy="2171065"/>
          </a:xfrm>
          <a:prstGeom prst="rect">
            <a:avLst/>
          </a:prstGeom>
        </p:spPr>
      </p:pic>
      <p:pic>
        <p:nvPicPr>
          <p:cNvPr id="16" name="图片 15" descr="apparent_velocity_full_tim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0360" y="2903855"/>
            <a:ext cx="3787775" cy="2239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core/workflow 与 GUI 解耦，让数值链可以独立验证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3813048" y="1810512"/>
            <a:ext cx="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9240" y="1810512"/>
            <a:ext cx="914" cy="347472"/>
          </a:xfrm>
          <a:prstGeom prst="line">
            <a:avLst/>
          </a:prstGeom>
          <a:noFill/>
          <a:ln w="15240">
            <a:solidFill>
              <a:srgbClr val="0F77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77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 占位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737360" y="2679192"/>
            <a:ext cx="658368" cy="914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H="1">
            <a:off x="1371600" y="2999232"/>
            <a:ext cx="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H="1">
            <a:off x="2761488" y="2999232"/>
            <a:ext cx="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7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7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当前工作树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2253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真实运行显示两通道结果同量级，但不能自动判定“哪个更可信”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-441325" y="2240407"/>
          <a:ext cx="4041648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6971157" y="2053082"/>
          <a:ext cx="4041648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325239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325239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267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571873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645025"/>
            <a:ext cx="78089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软件能运行，不等于结果已达到科研使用标准</a:t>
            </a:r>
            <a:endParaRPr lang="en-US" sz="24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77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基础闭环已建立</a:t>
            </a:r>
            <a:endParaRPr lang="en-US" b="1" dirty="0">
              <a:solidFill>
                <a:srgbClr val="0F77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可运行｜工程质量门已通过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3600" b="1" dirty="0">
              <a:solidFill>
                <a:srgbClr val="B4231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科研级可信仍未完成</a:t>
            </a:r>
            <a:endParaRPr lang="en-US" b="1" dirty="0">
              <a:solidFill>
                <a:srgbClr val="B423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需实验依据｜需质量判断｜需交付验证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b="1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脊线连续性</a:t>
            </a:r>
            <a:endParaRPr lang="en-US" sz="12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逐帧最大峰仍无最大跳频、动态规划或连续性约束</a:t>
            </a:r>
            <a:endParaRPr lang="en-US" sz="9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b="1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质量阈值</a:t>
            </a:r>
            <a:endParaRPr lang="en-US" sz="12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描述性质量量无正式阈值，不能自动拒绝假峰</a:t>
            </a:r>
            <a:endParaRPr lang="en-US" sz="9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b="1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物理参数</a:t>
            </a:r>
            <a:endParaRPr lang="en-US" sz="14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1550 nm 未确认；LiF、折射率与 corrected velocity 未实现</a:t>
            </a:r>
            <a:endParaRPr lang="en-US" sz="10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b="1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preview 语义</a:t>
            </a:r>
            <a:endParaRPr lang="en-US" sz="12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全时段 preview 未经过正式质量门，不是正式低速测量</a:t>
            </a:r>
            <a:endParaRPr lang="en-US" sz="9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b="1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交付能力</a:t>
            </a:r>
            <a:endParaRPr lang="en-US" sz="1200" b="1" dirty="0">
              <a:solidFill>
                <a:srgbClr val="8E1B1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GUI、完整 CLI、集成测试、打包和跨机器部署未完成</a:t>
            </a:r>
            <a:endParaRPr lang="en-US" sz="900" dirty="0">
              <a:solidFill>
                <a:srgbClr val="2021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下一阶段优先建立可信判据，再推进修正模型和 GUI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423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" y="33375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465576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谱线连续性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9848" y="3803904"/>
            <a:ext cx="95097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 AI 连续跟踪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搜索范围 · 物理先验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59736" y="274320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871216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可验证判据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3209544"/>
            <a:ext cx="95097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起跳点 · 平台区 · 弱信号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自动测试 / 验收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05656" y="224028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368296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通道质量择优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70248" y="2706624"/>
            <a:ext cx="95097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先输出证据，再标定阈值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对照测试 / 验收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97296" y="17373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1865376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修正模型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61888" y="2203704"/>
            <a:ext cx="95097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核验波长与 LiF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验证后接入 corrected velocity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 flipV="1">
            <a:off x="6995160" y="16550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88936" y="1261872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55458" y="1344168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53528" y="1728216"/>
            <a:ext cx="95097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→ GUI → 打包部署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真实用户验收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94360" y="11155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1225296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77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辅助识别（后期）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783080" y="1207008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仅辅助候选识别，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不直接生成最终速度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08576"/>
            <a:ext cx="771753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从“跑通”到“可信”：DPS Studio 的下一阶段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1168400" y="1679575"/>
            <a:ext cx="6806565" cy="195326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1579880" y="1996440"/>
            <a:ext cx="704215" cy="2527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1616710" y="2042160"/>
            <a:ext cx="643255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2658745" y="2051050"/>
            <a:ext cx="4818380" cy="1917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579880" y="2612390"/>
            <a:ext cx="704215" cy="2527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616710" y="2642870"/>
            <a:ext cx="643255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2658745" y="2618105"/>
            <a:ext cx="4818380" cy="1917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1579880" y="3178810"/>
            <a:ext cx="704215" cy="2527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1640840" y="3228340"/>
            <a:ext cx="643255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2658745" y="3185160"/>
            <a:ext cx="4818380" cy="1917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3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4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5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6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7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8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9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0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1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2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3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4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5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6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7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8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19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0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1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2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3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4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5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6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7.xml><?xml version="1.0" encoding="utf-8"?>
<p:tagLst xmlns:p="http://schemas.openxmlformats.org/presentationml/2006/main">
  <p:tag name="KSO_WM_DIAGRAM_VIRTUALLY_FRAME" val="{&quot;height&quot;:195.83,&quot;left&quot;:34.56,&quot;top&quot;:82.81,&quot;width&quot;:661.68}"/>
</p:tagLst>
</file>

<file path=ppt/tags/tag28.xml><?xml version="1.0" encoding="utf-8"?>
<p:tagLst xmlns:p="http://schemas.openxmlformats.org/presentationml/2006/main">
  <p:tag name="KSO_WM_DIAGRAM_VIRTUALLY_FRAME" val="{&quot;height&quot;:270.00000000000006,&quot;left&quot;:486,&quot;top&quot;:84.96000000000001,&quot;width&quot;:195.83999999999997}"/>
</p:tagLst>
</file>

<file path=ppt/tags/tag29.xml><?xml version="1.0" encoding="utf-8"?>
<p:tagLst xmlns:p="http://schemas.openxmlformats.org/presentationml/2006/main">
  <p:tag name="KSO_WM_DIAGRAM_VIRTUALLY_FRAME" val="{&quot;height&quot;:270.00000000000006,&quot;left&quot;:486,&quot;top&quot;:84.96000000000001,&quot;width&quot;:195.83999999999997}"/>
</p:tagLst>
</file>

<file path=ppt/tags/tag30.xml><?xml version="1.0" encoding="utf-8"?>
<p:tagLst xmlns:p="http://schemas.openxmlformats.org/presentationml/2006/main">
  <p:tag name="KSO_WM_DIAGRAM_VIRTUALLY_FRAME" val="{&quot;height&quot;:270.00000000000006,&quot;left&quot;:486,&quot;top&quot;:84.96000000000001,&quot;width&quot;:195.83999999999997}"/>
</p:tagLst>
</file>

<file path=ppt/tags/tag31.xml><?xml version="1.0" encoding="utf-8"?>
<p:tagLst xmlns:p="http://schemas.openxmlformats.org/presentationml/2006/main">
  <p:tag name="KSO_WM_DIAGRAM_VIRTUALLY_FRAME" val="{&quot;height&quot;:270.00000000000006,&quot;left&quot;:486,&quot;top&quot;:84.96000000000001,&quot;width&quot;:195.83999999999997}"/>
</p:tagLst>
</file>

<file path=ppt/tags/tag32.xml><?xml version="1.0" encoding="utf-8"?>
<p:tagLst xmlns:p="http://schemas.openxmlformats.org/presentationml/2006/main">
  <p:tag name="KSO_WM_DIAGRAM_VIRTUALLY_FRAME" val="{&quot;height&quot;:270.00000000000006,&quot;left&quot;:486,&quot;top&quot;:84.96000000000001,&quot;width&quot;:195.83999999999997}"/>
</p:tagLst>
</file>

<file path=ppt/tags/tag33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4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5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6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7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8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39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40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ags/tag41.xml><?xml version="1.0" encoding="utf-8"?>
<p:tagLst xmlns:p="http://schemas.openxmlformats.org/presentationml/2006/main">
  <p:tag name="KSO_WM_DIAGRAM_VIRTUALLY_FRAME" val="{&quot;height&quot;:113,&quot;left&quot;:124.4,&quot;top&quot;:157.2,&quot;width&quot;:464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2301</Words>
  <Application>WPS 演示</Application>
  <PresentationFormat>On-screen Show (16:9)</PresentationFormat>
  <Paragraphs>383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Aptos</vt:lpstr>
      <vt:lpstr>Segoe UI</vt:lpstr>
      <vt:lpstr>Aptos</vt:lpstr>
      <vt:lpstr>Aptos</vt:lpstr>
      <vt:lpstr>微软雅黑</vt:lpstr>
      <vt:lpstr>微软雅黑</vt:lpstr>
      <vt:lpstr>Cambria Math</vt:lpstr>
      <vt:lpstr>Cambria Math</vt:lpstr>
      <vt:lpstr>Cambria Math</vt:lpstr>
      <vt:lpstr>Arial</vt:lpstr>
      <vt:lpstr>Aptos</vt:lpstr>
      <vt:lpstr>Arial Unicode MS</vt:lpstr>
      <vt:lpstr>等线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DPS Studio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creator>DPS Studio project</dc:creator>
  <dc:subject>DPS Studio 课题组组会汇报</dc:subject>
  <cp:lastModifiedBy>x</cp:lastModifiedBy>
  <cp:revision>12</cp:revision>
  <dcterms:created xsi:type="dcterms:W3CDTF">2026-07-25T14:08:00Z</dcterms:created>
  <dcterms:modified xsi:type="dcterms:W3CDTF">2026-07-25T16:25:22Z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8885E93BDCC0487CA01C878A98169865_12</vt:lpwstr>
  </property>
</Properties>
</file>