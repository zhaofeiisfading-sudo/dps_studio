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5" r:id="rId3"/>
    <p:sldId id="276" r:id="rId5"/>
    <p:sldId id="25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00000-0000-0000-0000-000000000001}" type="slidenum">
              <a:rPr lang="zh-CN"/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完整单边频谱上限由实际采样率决定，约为 20 GHz。脊线搜索仅在 0.05 到 2.0 GHz 内进行，显示范围和搜索范围需要分开。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当前每一帧先在固定搜索带中取最大幅值频点，再用三点对数幅值二次模型做亚频点精修。当前没有动态规划或物理分支识别。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拍频乘以显式真空波长后得到无符号表观速度。配置中的 1.55 微米仍是演示值，必须等待实验记录确认。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正式配置负责输入、事件时间、波长、质量参数和输出；两个 AnalysisProfile 负责 STFT 和搜索参数。运行清单会记录这些值。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与 High time 的 hop 相同，但窗口长度不同。较短窗口缩短时间支持，也使窗限频率尺度更大。nfft 只加密频率采样网格。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这两个图来自同一原始数据和同一通道。Balanced 在这次数据的平台区更稳定，High time 不能解释为更高准确度。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正式全时间图只连接有定义的候选区。前事件零只为显示，核心表观速度保留 NaN；显示桥只含两个端点。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起跳、平台和下降段分别检查，可看到窗口支持、平台微小波动和下降段连续变化。所有图仍是基于临时波长的表观速度。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两通道趋势接近，只能作为本次数据的一致性观察。dB 数值是谱对比度，不是 SNR，也不能用于自动通道选择。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旧软件图和 CSV 的来源与处理参数仍需实验组确认，因此只能用于开发历史。当前变化的核心是配置、源数据和结果可回查。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已经完成的是数值处理和可追溯输出。GUI、物理修正和经实验验证的判据仍未完成，不能写成当前能力。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诊断量已经可以揭示谱背景、竞争峰和连续性变化，但尚无经实验验证的可用或不可用阈值。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下一步需要按依赖顺序推进。实验元数据和判据不确认，物理修正和界面工作都缺少稳定基础。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结论分为已有、边界和下一步三层。当前已能复现表观速度处理过程，但科研解释仍需额外证据。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image16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00032" y="475488"/>
            <a:ext cx="1965960" cy="566928"/>
          </a:xfrm>
          <a:prstGeom prst="rect">
            <a:avLst/>
          </a:prstGeom>
        </p:spPr>
      </p:pic>
      <p:sp>
        <p:nvSpPr>
          <p:cNvPr id="4" name="TextBox 5"/>
          <p:cNvSpPr txBox="1"/>
          <p:nvPr userDrawn="1"/>
        </p:nvSpPr>
        <p:spPr>
          <a:xfrm>
            <a:off x="737997" y="767715"/>
            <a:ext cx="7040880" cy="6508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Times New Roman" panose="02020603050405020304" pitchFamily="34" charset="0"/>
                <a:ea typeface="微软雅黑" panose="020B0503020204020204" pitchFamily="34" charset="-122"/>
                <a:cs typeface="Times New Roman" panose="02020603050405020304" pitchFamily="34" charset="0"/>
              </a:rPr>
              <a:t>PDV</a:t>
            </a:r>
            <a:r>
              <a:rPr lang="zh-CN" altLang="en-US" sz="4000" b="1">
                <a:solidFill>
                  <a:srgbClr val="FFFFFF"/>
                </a:solidFill>
                <a:latin typeface="Times New Roman" panose="02020603050405020304" pitchFamily="34" charset="0"/>
                <a:ea typeface="微软雅黑" panose="020B0503020204020204" pitchFamily="34" charset="-122"/>
                <a:cs typeface="Times New Roman" panose="02020603050405020304" pitchFamily="34" charset="0"/>
              </a:rPr>
              <a:t>数据处理软件</a:t>
            </a:r>
            <a:r>
              <a:rPr lang="zh-CN" altLang="en-US" sz="4000" b="1">
                <a:solidFill>
                  <a:srgbClr val="FFFFFF"/>
                </a:solidFill>
                <a:latin typeface="Times New Roman" panose="02020603050405020304" pitchFamily="34" charset="0"/>
                <a:ea typeface="微软雅黑" panose="020B0503020204020204" pitchFamily="34" charset="-122"/>
                <a:cs typeface="Times New Roman" panose="02020603050405020304" pitchFamily="34" charset="0"/>
              </a:rPr>
              <a:t>及</a:t>
            </a:r>
            <a:endParaRPr lang="zh-CN" altLang="en-US" sz="4000" b="1">
              <a:solidFill>
                <a:srgbClr val="FFFFFF"/>
              </a:solidFill>
              <a:latin typeface="Times New Roman" panose="02020603050405020304" pitchFamily="34" charset="0"/>
              <a:ea typeface="微软雅黑" panose="020B0503020204020204" pitchFamily="34" charset="-122"/>
              <a:cs typeface="Times New Roman" panose="02020603050405020304" pitchFamily="34" charset="0"/>
            </a:endParaRPr>
          </a:p>
        </p:txBody>
      </p:sp>
      <p:sp>
        <p:nvSpPr>
          <p:cNvPr id="8" name="TextBox 6"/>
          <p:cNvSpPr txBox="1"/>
          <p:nvPr userDrawn="1"/>
        </p:nvSpPr>
        <p:spPr>
          <a:xfrm>
            <a:off x="737997" y="3125343"/>
            <a:ext cx="4846320" cy="17500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微软雅黑" panose="020B0503020204020204" pitchFamily="34" charset="-122"/>
              </a:rPr>
              <a:t>答辩人：龙赵飞</a:t>
            </a:r>
            <a:endParaRPr sz="1450" b="0">
              <a:solidFill>
                <a:srgbClr val="FFFFFF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微软雅黑" panose="020B0503020204020204" pitchFamily="34" charset="-122"/>
              </a:rPr>
              <a:t>四川大学物理学院</a:t>
            </a:r>
            <a:endParaRPr sz="1450" b="0">
              <a:solidFill>
                <a:srgbClr val="FFFFFF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微软雅黑" panose="020B0503020204020204" pitchFamily="34" charset="-122"/>
              </a:rPr>
              <a:t>物理学（强基计划）2023级</a:t>
            </a:r>
            <a:endParaRPr sz="1450" b="0">
              <a:solidFill>
                <a:srgbClr val="FFFFFF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微软雅黑" panose="020B0503020204020204" pitchFamily="34" charset="-122"/>
              </a:rPr>
              <a:t>申请方向：070200 物理学</a:t>
            </a:r>
            <a:endParaRPr sz="1450" b="0">
              <a:solidFill>
                <a:srgbClr val="FFFFFF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微软雅黑" panose="020B0503020204020204" pitchFamily="34" charset="-122"/>
              </a:rPr>
              <a:t>第一志愿：直博</a:t>
            </a:r>
            <a:endParaRPr sz="1450" b="0">
              <a:solidFill>
                <a:srgbClr val="FFFFFF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微软雅黑" panose="020B0503020204020204" pitchFamily="34" charset="-122"/>
              </a:rPr>
              <a:t>拟申请导师：</a:t>
            </a:r>
            <a:r>
              <a:rPr lang="zh-CN" sz="1450" b="0">
                <a:solidFill>
                  <a:srgbClr val="FFFFFF"/>
                </a:solidFill>
                <a:latin typeface="微软雅黑" panose="020B0503020204020204" pitchFamily="34" charset="-122"/>
              </a:rPr>
              <a:t>向钢</a:t>
            </a:r>
            <a:r>
              <a:rPr sz="1450" b="0">
                <a:solidFill>
                  <a:srgbClr val="FFFFFF"/>
                </a:solidFill>
                <a:latin typeface="微软雅黑" panose="020B0503020204020204" pitchFamily="34" charset="-122"/>
              </a:rPr>
              <a:t> </a:t>
            </a:r>
            <a:r>
              <a:rPr lang="zh-CN" sz="1450" b="0">
                <a:solidFill>
                  <a:srgbClr val="FFFFFF"/>
                </a:solidFill>
                <a:latin typeface="微软雅黑" panose="020B0503020204020204" pitchFamily="34" charset="-122"/>
              </a:rPr>
              <a:t>教授</a:t>
            </a:r>
            <a:endParaRPr sz="1450" b="0">
              <a:solidFill>
                <a:srgbClr val="FFFFFF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FFFFFF"/>
                </a:solidFill>
                <a:latin typeface="微软雅黑" panose="020B0503020204020204" pitchFamily="34" charset="-122"/>
              </a:rPr>
              <a:t>时间：2026年7月9日</a:t>
            </a:r>
            <a:endParaRPr sz="145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TextBox 8"/>
          <p:cNvSpPr txBox="1"/>
          <p:nvPr userDrawn="1"/>
        </p:nvSpPr>
        <p:spPr>
          <a:xfrm>
            <a:off x="11475720" y="6446520"/>
            <a:ext cx="3200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Shape 0"/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6" Type="http://schemas.openxmlformats.org/officeDocument/2006/relationships/notesSlide" Target="../notesSlides/notesSlide1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30.xml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475488"/>
            <a:ext cx="1965960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46520"/>
            <a:ext cx="3200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24965" y="2031365"/>
            <a:ext cx="89420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PDV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数据处理流程及后续降噪可能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63365" y="4718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7.27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日组会汇报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04000" y="529200"/>
            <a:ext cx="4064000" cy="568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100" b="1">
                <a:latin typeface="微软雅黑" panose="020B0503020204020204" pitchFamily="34" charset="-122"/>
                <a:ea typeface="微软雅黑" panose="020B0503020204020204" pitchFamily="34" charset="-122"/>
              </a:rPr>
              <a:t>核心原理</a:t>
            </a:r>
            <a:endParaRPr lang="zh-CN" altLang="en-US" sz="31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697859" y="2366581"/>
                <a:ext cx="4558665" cy="4222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𝐼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+2</m:t>
                      </m:r>
                      <m:rad>
                        <m:radPr>
                          <m:degHide m:val="on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𝑠</m:t>
                              </m:r>
                            </m:sub>
                          </m:sSub>
                        </m:e>
                      </m:rad>
                      <m:func>
                        <m:func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𝛥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𝜙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859" y="2366581"/>
                <a:ext cx="4558665" cy="422275"/>
              </a:xfrm>
              <a:prstGeom prst="rect">
                <a:avLst/>
              </a:prstGeom>
              <a:blipFill rotWithShape="1">
                <a:blip r:embed="rId1"/>
                <a:stretch>
                  <a:fillRect l="-6" t="-135" r="6" b="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162044" y="2877121"/>
                <a:ext cx="3404235" cy="6604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𝛥𝜙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𝜋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044" y="2877121"/>
                <a:ext cx="3404235" cy="660400"/>
              </a:xfrm>
              <a:prstGeom prst="rect">
                <a:avLst/>
              </a:prstGeom>
              <a:blipFill rotWithShape="1">
                <a:blip r:embed="rId2"/>
                <a:stretch>
                  <a:fillRect l="-7" t="-87" r="7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465324" y="4265866"/>
                <a:ext cx="7260590" cy="76009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𝑆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subSup"/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−∞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+∞</m:t>
                                  </m:r>
                                </m:sup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𝑠</m:t>
                                  </m:r>
                                </m:e>
                              </m:nary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𝜏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𝜋</m:t>
                                  </m:r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𝑓𝑡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 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d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324" y="4265866"/>
                <a:ext cx="7260590" cy="760095"/>
              </a:xfrm>
              <a:prstGeom prst="rect">
                <a:avLst/>
              </a:prstGeom>
              <a:blipFill rotWithShape="1">
                <a:blip r:embed="rId3"/>
                <a:stretch>
                  <a:fillRect l="-4" t="-75" r="4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2652649" y="5147881"/>
                <a:ext cx="6837045" cy="6604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𝛥𝜙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d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649" y="5147881"/>
                <a:ext cx="6837045" cy="660400"/>
              </a:xfrm>
              <a:prstGeom prst="rect">
                <a:avLst/>
              </a:prstGeom>
              <a:blipFill rotWithShape="1">
                <a:blip r:embed="rId4"/>
                <a:stretch>
                  <a:fillRect l="-4" t="-87" r="4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593725" y="1694180"/>
            <a:ext cx="1076642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参考光与从运动界面反射回来的信号光发生干涉。界面位移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x(t)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改变两束光的相位差，因此探测器输出随时间振荡的电压信号。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4360" y="3720465"/>
            <a:ext cx="1076515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STFT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用一个滑动时间窗逐段计算频谱，得到时频图。横轴是时间，纵轴是频率，颜色表示局部频谱强度。图中主要谱线的轨迹就是候选拍频脊线。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数据处理流程</a:t>
            </a:r>
            <a:endParaRPr lang="zh-CN" altLang="en-US" sz="3100" b="1" dirty="0">
              <a:solidFill>
                <a:srgbClr val="201E1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30" name="文本框 29"/>
          <p:cNvSpPr txBox="1"/>
          <p:nvPr/>
        </p:nvSpPr>
        <p:spPr>
          <a:xfrm>
            <a:off x="1452880" y="2699385"/>
            <a:ext cx="1366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原始数据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282950" y="2699385"/>
            <a:ext cx="1873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数据读取与校验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733415" y="2699385"/>
            <a:ext cx="1134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通道拆分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571740" y="2699385"/>
            <a:ext cx="1297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326245" y="2699385"/>
            <a:ext cx="1271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STFT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065260" y="4387850"/>
            <a:ext cx="213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频谱图脊线提取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310755" y="438785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拍频频率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222240" y="4387850"/>
            <a:ext cx="1410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未修正速度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477645" y="4387850"/>
            <a:ext cx="1215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结果导出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294380" y="4387850"/>
            <a:ext cx="1326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窗口修正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右箭头 43"/>
          <p:cNvSpPr/>
          <p:nvPr/>
        </p:nvSpPr>
        <p:spPr>
          <a:xfrm>
            <a:off x="2659380" y="2699385"/>
            <a:ext cx="486410" cy="3867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45" name="右箭头 44"/>
          <p:cNvSpPr/>
          <p:nvPr/>
        </p:nvSpPr>
        <p:spPr>
          <a:xfrm>
            <a:off x="5156200" y="2699385"/>
            <a:ext cx="448945" cy="3867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46" name="右箭头 45"/>
          <p:cNvSpPr/>
          <p:nvPr/>
        </p:nvSpPr>
        <p:spPr>
          <a:xfrm>
            <a:off x="6954520" y="2699385"/>
            <a:ext cx="462280" cy="3867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47" name="右箭头 46"/>
          <p:cNvSpPr/>
          <p:nvPr/>
        </p:nvSpPr>
        <p:spPr>
          <a:xfrm>
            <a:off x="8658225" y="2699385"/>
            <a:ext cx="462280" cy="3867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49" name="下箭头 48"/>
          <p:cNvSpPr/>
          <p:nvPr/>
        </p:nvSpPr>
        <p:spPr>
          <a:xfrm>
            <a:off x="9728835" y="3369945"/>
            <a:ext cx="393065" cy="74549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50" name="左箭头 49"/>
          <p:cNvSpPr/>
          <p:nvPr/>
        </p:nvSpPr>
        <p:spPr>
          <a:xfrm>
            <a:off x="8507095" y="4387850"/>
            <a:ext cx="468630" cy="3683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51" name="左箭头 50"/>
          <p:cNvSpPr/>
          <p:nvPr/>
        </p:nvSpPr>
        <p:spPr>
          <a:xfrm>
            <a:off x="6682105" y="4406265"/>
            <a:ext cx="468630" cy="3683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52" name="左箭头 51"/>
          <p:cNvSpPr/>
          <p:nvPr/>
        </p:nvSpPr>
        <p:spPr>
          <a:xfrm>
            <a:off x="4568190" y="4387850"/>
            <a:ext cx="468630" cy="3683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53" name="左箭头 52"/>
          <p:cNvSpPr/>
          <p:nvPr/>
        </p:nvSpPr>
        <p:spPr>
          <a:xfrm>
            <a:off x="2695575" y="4406265"/>
            <a:ext cx="468630" cy="3683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54" name="圆角矩形 53"/>
          <p:cNvSpPr/>
          <p:nvPr/>
        </p:nvSpPr>
        <p:spPr>
          <a:xfrm>
            <a:off x="1452880" y="2699385"/>
            <a:ext cx="1068705" cy="38671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3294380" y="2699385"/>
            <a:ext cx="1735455" cy="38671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5731510" y="2699385"/>
            <a:ext cx="1068705" cy="38671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7560945" y="2680970"/>
            <a:ext cx="891540" cy="38671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圆角矩形 57"/>
          <p:cNvSpPr/>
          <p:nvPr/>
        </p:nvSpPr>
        <p:spPr>
          <a:xfrm>
            <a:off x="9326245" y="2684145"/>
            <a:ext cx="1197610" cy="38671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圆角矩形 58"/>
          <p:cNvSpPr/>
          <p:nvPr/>
        </p:nvSpPr>
        <p:spPr>
          <a:xfrm>
            <a:off x="9065260" y="4375150"/>
            <a:ext cx="1757045" cy="38671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圆角矩形 59"/>
          <p:cNvSpPr/>
          <p:nvPr/>
        </p:nvSpPr>
        <p:spPr>
          <a:xfrm>
            <a:off x="7348855" y="4387850"/>
            <a:ext cx="1068705" cy="38671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圆角矩形 60"/>
          <p:cNvSpPr/>
          <p:nvPr/>
        </p:nvSpPr>
        <p:spPr>
          <a:xfrm>
            <a:off x="3313430" y="4387850"/>
            <a:ext cx="1068705" cy="38671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圆角矩形 61"/>
          <p:cNvSpPr/>
          <p:nvPr/>
        </p:nvSpPr>
        <p:spPr>
          <a:xfrm>
            <a:off x="5280025" y="4387850"/>
            <a:ext cx="1203960" cy="38671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1477645" y="4387850"/>
            <a:ext cx="1068705" cy="386715"/>
          </a:xfrm>
          <a:prstGeom prst="round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</a:t>
            </a:r>
            <a:r>
              <a:rPr lang="zh-CN" alt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频谱图</a:t>
            </a:r>
            <a:endParaRPr lang="zh-CN" altLang="en-US" sz="3100" b="1" dirty="0">
              <a:solidFill>
                <a:srgbClr val="201E1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</a:t>
            </a:r>
            <a:r>
              <a:rPr lang="zh-CN" altLang="en-US" sz="19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频率上限</a:t>
            </a:r>
            <a:r>
              <a:rPr lang="en-US" sz="19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</a:t>
            </a:r>
            <a:r>
              <a:rPr lang="en-US" sz="19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20 GHz     </a:t>
            </a:r>
            <a:r>
              <a:rPr lang="zh-CN" altLang="en-US" sz="19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</a:t>
            </a:r>
            <a:r>
              <a:rPr lang="en-US" sz="19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</a:t>
            </a:r>
            <a:r>
              <a:rPr lang="en-US" sz="19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0.05–2.0 GHz </a:t>
            </a:r>
            <a:r>
              <a:rPr lang="en-US" sz="19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搜索</a:t>
            </a:r>
            <a:r>
              <a:rPr lang="zh-CN" altLang="en-US" sz="19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脊线</a:t>
            </a:r>
            <a:endParaRPr lang="zh-CN" altLang="en-US" sz="1900" b="1" dirty="0">
              <a:solidFill>
                <a:srgbClr val="8F211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10744200" cy="4160520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9" name="Image 0" descr="Balanced 通道一的完整单边 STFT 频谱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992" y="1737360"/>
            <a:ext cx="6390953" cy="3776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5596128"/>
            <a:ext cx="105247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Balanced / pdv_channel_1</a:t>
            </a:r>
            <a:r>
              <a:rPr 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：完整单边</a:t>
            </a:r>
            <a:r>
              <a:rPr lang="en-US" sz="10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STFT</a:t>
            </a:r>
            <a:r>
              <a:rPr 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，纵轴由实际频率轴确定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CN" altLang="en-US" sz="3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脊线提取</a:t>
            </a:r>
            <a:endParaRPr lang="zh-CN" altLang="en-US" sz="3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固定搜索带内取离散峰，再用相邻三点对数幅值做亚频点精修。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5303520" cy="4160520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9" name="Image 0" descr="事件附近的局部 STFT 频谱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36840"/>
            <a:ext cx="5193792" cy="286895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44768" y="1737360"/>
            <a:ext cx="5303520" cy="4160520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12" name="Image 1" descr="局部 STFT 与亚频点精修脊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203" y="1783080"/>
            <a:ext cx="5192649" cy="37764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704848" y="5989193"/>
            <a:ext cx="3081528" cy="310896"/>
          </a:xfrm>
          <a:prstGeom prst="rect">
            <a:avLst/>
          </a:prstGeom>
          <a:solidFill>
            <a:srgbClr val="EEE8E0"/>
          </a:solidFill>
          <a:ln w="6350">
            <a:solidFill>
              <a:srgbClr val="D6CE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778000" y="5989193"/>
            <a:ext cx="293522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脊线：逐帧候选频率轨迹</a:t>
            </a:r>
            <a:endParaRPr lang="en-US" sz="1220" dirty="0"/>
          </a:p>
        </p:txBody>
      </p:sp>
      <p:sp>
        <p:nvSpPr>
          <p:cNvPr id="16" name="Shape 12"/>
          <p:cNvSpPr/>
          <p:nvPr/>
        </p:nvSpPr>
        <p:spPr>
          <a:xfrm>
            <a:off x="6821043" y="5961888"/>
            <a:ext cx="3950208" cy="310896"/>
          </a:xfrm>
          <a:prstGeom prst="rect">
            <a:avLst/>
          </a:prstGeom>
          <a:solidFill>
            <a:srgbClr val="F3E7E3"/>
          </a:solidFill>
          <a:ln w="6350">
            <a:solidFill>
              <a:srgbClr val="EBD8D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94195" y="5961888"/>
            <a:ext cx="380390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亚频点精修：估计</a:t>
            </a:r>
            <a:r>
              <a:rPr lang="en-US" sz="122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FFT </a:t>
            </a:r>
            <a:r>
              <a:rPr lang="en-US" sz="12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网格之间的峰位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频率与速度</a:t>
            </a:r>
            <a:r>
              <a:rPr lang="zh-CN" alt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换算</a:t>
            </a:r>
            <a:endParaRPr lang="zh-CN" altLang="en-US" sz="3100" b="1" dirty="0">
              <a:solidFill>
                <a:srgbClr val="201E1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901952"/>
            <a:ext cx="6720840" cy="2578608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  <p:txBody>
          <a:bodyPr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1170432" y="2468880"/>
                <a:ext cx="5742432" cy="53035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app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 dirty="0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20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2000" i="1" dirty="0">
                  <a:latin typeface="Times New Roman" panose="02020603050405020304" pitchFamily="34" charset="0"/>
                  <a:cs typeface="Times New Roman" panose="02020603050405020304" pitchFamily="34" charset="0"/>
                </a:endParaRPr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32" y="2468880"/>
                <a:ext cx="5742432" cy="530352"/>
              </a:xfrm>
              <a:prstGeom prst="rect">
                <a:avLst/>
              </a:prstGeom>
              <a:blipFill rotWithShape="1">
                <a:blip r:embed="rId1"/>
                <a:stretch>
                  <a:fillRect l="-2" t="-4071" r="4"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1298448" y="3794760"/>
            <a:ext cx="5440680" cy="914"/>
          </a:xfrm>
          <a:prstGeom prst="line">
            <a:avLst/>
          </a:prstGeom>
          <a:noFill/>
          <a:ln w="8890">
            <a:solidFill>
              <a:srgbClr val="D6CEC4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1234440" y="3977640"/>
                <a:ext cx="1783080" cy="2743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201E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精修拍频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b="1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1400" b="1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𝒃</m:t>
                        </m:r>
                      </m:sub>
                    </m:sSub>
                    <m:r>
                      <a:rPr lang="en-US" altLang="zh-CN" sz="1400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b="1" i="1" dirty="0"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  <m:r>
                      <a:rPr lang="en-US" altLang="zh-CN" sz="1400" b="1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sz="1400" b="1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" y="3977640"/>
                <a:ext cx="1783080" cy="2743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3090672" y="4114800"/>
            <a:ext cx="502920" cy="914"/>
          </a:xfrm>
          <a:prstGeom prst="line">
            <a:avLst/>
          </a:prstGeom>
          <a:noFill/>
          <a:ln w="10160">
            <a:solidFill>
              <a:srgbClr val="9B958E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685032" y="39776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显式波长</a:t>
            </a:r>
            <a:r>
              <a:rPr lang="en-US" sz="14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λ₀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0" y="4114800"/>
            <a:ext cx="502920" cy="914"/>
          </a:xfrm>
          <a:prstGeom prst="line">
            <a:avLst/>
          </a:prstGeom>
          <a:noFill/>
          <a:ln w="10160">
            <a:solidFill>
              <a:srgbClr val="9B958E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14"/>
              <p:cNvSpPr/>
              <p:nvPr/>
            </p:nvSpPr>
            <p:spPr>
              <a:xfrm>
                <a:off x="5980176" y="3977640"/>
                <a:ext cx="960120" cy="2743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b="1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1400" b="1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𝒂𝒑𝒑</m:t>
                          </m:r>
                        </m:sub>
                      </m:sSub>
                      <m:r>
                        <a:rPr lang="en-US" altLang="zh-CN" sz="1400" b="1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400" b="1" i="1" dirty="0">
                          <a:latin typeface="Cambria Math" panose="02040503050406030204" charset="0"/>
                          <a:cs typeface="Cambria Math" panose="02040503050406030204" charset="0"/>
                        </a:rPr>
                        <m:t>𝒕</m:t>
                      </m:r>
                      <m:r>
                        <a:rPr lang="en-US" altLang="zh-CN" sz="1400" b="1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sz="1400" b="1" dirty="0"/>
              </a:p>
            </p:txBody>
          </p:sp>
        </mc:Choice>
        <mc:Fallback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176" y="3977640"/>
                <a:ext cx="960120" cy="274320"/>
              </a:xfrm>
              <a:prstGeom prst="rect">
                <a:avLst/>
              </a:prstGeom>
              <a:blipFill rotWithShape="1">
                <a:blip r:embed="rId3"/>
                <a:stretch>
                  <a:fillRect l="-40" r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8"/>
          <p:cNvSpPr/>
          <p:nvPr>
            <p:custDataLst>
              <p:tags r:id="rId4"/>
            </p:custDataLst>
          </p:nvPr>
        </p:nvSpPr>
        <p:spPr>
          <a:xfrm>
            <a:off x="7735570" y="2066544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9"/>
          <p:cNvSpPr/>
          <p:nvPr>
            <p:custDataLst>
              <p:tags r:id="rId5"/>
            </p:custDataLst>
          </p:nvPr>
        </p:nvSpPr>
        <p:spPr>
          <a:xfrm>
            <a:off x="8211058" y="2057400"/>
            <a:ext cx="301752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修正项未接入</a:t>
            </a:r>
            <a:endParaRPr lang="en-US" sz="1700" dirty="0"/>
          </a:p>
        </p:txBody>
      </p:sp>
      <p:sp>
        <p:nvSpPr>
          <p:cNvPr id="22" name="Text 20"/>
          <p:cNvSpPr/>
          <p:nvPr>
            <p:custDataLst>
              <p:tags r:id="rId6"/>
            </p:custDataLst>
          </p:nvPr>
        </p:nvSpPr>
        <p:spPr>
          <a:xfrm>
            <a:off x="8211058" y="236829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不含</a:t>
            </a:r>
            <a:r>
              <a:rPr lang="en-US" sz="12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LiF</a:t>
            </a:r>
            <a:r>
              <a:rPr lang="en-US" sz="12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、折射率、入射角或窗口修正</a:t>
            </a:r>
            <a:endParaRPr lang="en-US" sz="1250" dirty="0"/>
          </a:p>
        </p:txBody>
      </p:sp>
      <p:sp>
        <p:nvSpPr>
          <p:cNvPr id="23" name="Text 21"/>
          <p:cNvSpPr/>
          <p:nvPr>
            <p:custDataLst>
              <p:tags r:id="rId7"/>
            </p:custDataLst>
          </p:nvPr>
        </p:nvSpPr>
        <p:spPr>
          <a:xfrm>
            <a:off x="7735570" y="3227832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>
            <p:custDataLst>
              <p:tags r:id="rId8"/>
            </p:custDataLst>
          </p:nvPr>
        </p:nvSpPr>
        <p:spPr>
          <a:xfrm>
            <a:off x="8211058" y="3218688"/>
            <a:ext cx="301752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</a:t>
            </a:r>
            <a:r>
              <a:rPr lang="zh-CN" altLang="en-US" sz="17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速度</a:t>
            </a:r>
            <a:r>
              <a:rPr lang="en-US" sz="17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</a:t>
            </a:r>
            <a:r>
              <a:rPr lang="zh-CN" altLang="en-US" sz="17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正负</a:t>
            </a:r>
            <a:r>
              <a:rPr lang="zh-CN" altLang="en-US" sz="17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符号</a:t>
            </a:r>
            <a:endParaRPr lang="zh-CN" altLang="en-US" sz="1700" b="1" dirty="0">
              <a:solidFill>
                <a:srgbClr val="201E1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9"/>
            </p:custDataLst>
          </p:nvPr>
        </p:nvSpPr>
        <p:spPr>
          <a:xfrm>
            <a:off x="8211058" y="352069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单边</a:t>
            </a:r>
            <a:r>
              <a:rPr lang="en-US" sz="12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STFT </a:t>
            </a:r>
            <a:r>
              <a:rPr lang="en-US" sz="12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只保留正频率，结果为无符号量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CN" altLang="en-US" sz="3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当前默认参数</a:t>
            </a:r>
            <a:endParaRPr lang="zh-CN" altLang="en-US" sz="3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2148840" cy="512064"/>
          </a:xfrm>
          <a:prstGeom prst="rect">
            <a:avLst/>
          </a:prstGeom>
          <a:solidFill>
            <a:srgbClr val="8F2118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801368"/>
            <a:ext cx="198424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88920" y="1783080"/>
            <a:ext cx="1874520" cy="512064"/>
          </a:xfrm>
          <a:prstGeom prst="rect">
            <a:avLst/>
          </a:prstGeom>
          <a:solidFill>
            <a:srgbClr val="8F2118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1216" y="1801368"/>
            <a:ext cx="170992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balanced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2468880" cy="512064"/>
          </a:xfrm>
          <a:prstGeom prst="rect">
            <a:avLst/>
          </a:prstGeom>
          <a:solidFill>
            <a:srgbClr val="8F2118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1801368"/>
            <a:ext cx="23042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high_time_resolution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295144"/>
            <a:ext cx="2148840" cy="55778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313432"/>
            <a:ext cx="198424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window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88920" y="2295144"/>
            <a:ext cx="1874520" cy="55778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71216" y="2313432"/>
            <a:ext cx="170992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Hann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2295144"/>
            <a:ext cx="2468880" cy="55778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2313432"/>
            <a:ext cx="230428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Hann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2852928"/>
            <a:ext cx="2148840" cy="55778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2871216"/>
            <a:ext cx="198424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window length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88920" y="2852928"/>
            <a:ext cx="1874520" cy="55778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71216" y="2871216"/>
            <a:ext cx="170992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768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2852928"/>
            <a:ext cx="2468880" cy="55778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2871216"/>
            <a:ext cx="230428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512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3410712"/>
            <a:ext cx="2148840" cy="55778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3429000"/>
            <a:ext cx="198424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overlap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788920" y="3410712"/>
            <a:ext cx="1874520" cy="55778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71216" y="3429000"/>
            <a:ext cx="170992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640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3410712"/>
            <a:ext cx="2468880" cy="55778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3429000"/>
            <a:ext cx="230428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384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3968496"/>
            <a:ext cx="2148840" cy="55778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3986784"/>
            <a:ext cx="198424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hop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788920" y="3968496"/>
            <a:ext cx="1874520" cy="55778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71216" y="3986784"/>
            <a:ext cx="170992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128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663440" y="3968496"/>
            <a:ext cx="2468880" cy="55778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3986784"/>
            <a:ext cx="230428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128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4526280"/>
            <a:ext cx="2148840" cy="55778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" y="4544568"/>
            <a:ext cx="198424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nfft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2788920" y="4526280"/>
            <a:ext cx="1874520" cy="55778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71216" y="4544568"/>
            <a:ext cx="170992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4096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663440" y="4526280"/>
            <a:ext cx="2468880" cy="55778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45736" y="4544568"/>
            <a:ext cx="230428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4096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5084064"/>
            <a:ext cx="2148840" cy="55778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" y="5102352"/>
            <a:ext cx="198424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ridge search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788920" y="5084064"/>
            <a:ext cx="1874520" cy="55778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71216" y="5102352"/>
            <a:ext cx="170992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0.05–2.0 GHz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663440" y="5084064"/>
            <a:ext cx="2468880" cy="55778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45736" y="5102352"/>
            <a:ext cx="2304288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0.05–2.0 GHz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424928" y="1783080"/>
            <a:ext cx="3950208" cy="4069080"/>
          </a:xfrm>
          <a:prstGeom prst="rect">
            <a:avLst/>
          </a:prstGeom>
          <a:solidFill>
            <a:srgbClr val="181818"/>
          </a:solidFill>
          <a:ln w="7620">
            <a:solidFill>
              <a:srgbClr val="18181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99248" y="2039112"/>
            <a:ext cx="3401568" cy="3310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F3F1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[analysis]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3F1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profiles = [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3F1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"balanced",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3F1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"high_time_resolution"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3F1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3F1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event_start_time_s = 5.54668e-4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3F1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analysis_end_time_s = 5.55450e-4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3F1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vacuum_wavelength_m = 1.55e-6</a:t>
            </a:r>
            <a:endParaRPr lang="en-US" sz="1280" dirty="0"/>
          </a:p>
          <a:p>
            <a:pPr marL="0" indent="0">
              <a:buNone/>
            </a:pP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3F1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[quality]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3F1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background_guard_window_scale = 2.0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3F1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minimum_background_bin_count = 2</a:t>
            </a:r>
            <a:endParaRPr lang="en-US" sz="1280" dirty="0"/>
          </a:p>
        </p:txBody>
      </p:sp>
      <p:sp>
        <p:nvSpPr>
          <p:cNvPr id="52" name="Text 50"/>
          <p:cNvSpPr/>
          <p:nvPr/>
        </p:nvSpPr>
        <p:spPr>
          <a:xfrm>
            <a:off x="7699248" y="5413248"/>
            <a:ext cx="7498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8D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配置路径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467344" y="53949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configs/demo_dual_profile.toml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窗口长度同时决定时间</a:t>
            </a:r>
            <a:r>
              <a:rPr lang="zh-CN" alt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分辨</a:t>
            </a:r>
            <a:r>
              <a:rPr 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与频率</a:t>
            </a:r>
            <a:r>
              <a:rPr lang="zh-CN" alt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分辨</a:t>
            </a:r>
            <a:endParaRPr lang="zh-CN" altLang="en-US" sz="3100" b="1" dirty="0">
              <a:solidFill>
                <a:srgbClr val="201E1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88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34" charset="-120"/>
              </a:rPr>
              <a:t>窗口长度越长，时间分辨率越差，频率分辨率越好</a:t>
            </a:r>
            <a:endParaRPr lang="zh-CN" altLang="en-US" sz="1880" b="1" dirty="0">
              <a:solidFill>
                <a:srgbClr val="8F211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60120" y="2761488"/>
            <a:ext cx="9966960" cy="914"/>
          </a:xfrm>
          <a:prstGeom prst="line">
            <a:avLst/>
          </a:prstGeom>
          <a:noFill/>
          <a:ln w="15240">
            <a:solidFill>
              <a:srgbClr val="D6CE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761488"/>
            <a:ext cx="9144" cy="914"/>
          </a:xfrm>
          <a:prstGeom prst="line">
            <a:avLst/>
          </a:prstGeom>
          <a:noFill/>
          <a:ln w="63500">
            <a:solidFill>
              <a:srgbClr val="8F21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90504" y="2761488"/>
            <a:ext cx="9144" cy="914"/>
          </a:xfrm>
          <a:prstGeom prst="line">
            <a:avLst/>
          </a:prstGeom>
          <a:noFill/>
          <a:ln w="63500">
            <a:solidFill>
              <a:srgbClr val="8F21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139696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更短时间支持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24544" y="2139696"/>
            <a:ext cx="22128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更稳定的频率估计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47088" y="2542032"/>
            <a:ext cx="109728" cy="438912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309067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High time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05672" y="2542032"/>
            <a:ext cx="109728" cy="438912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3090672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Balanced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47469" y="389585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窗口时间支持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32885" y="389585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12.8 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0285" y="389585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19.2 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47469" y="4243324"/>
            <a:ext cx="5650992" cy="914"/>
          </a:xfrm>
          <a:prstGeom prst="line">
            <a:avLst/>
          </a:prstGeom>
          <a:noFill/>
          <a:ln w="6350">
            <a:solidFill>
              <a:srgbClr val="EEE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47469" y="4407916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窗限频率尺度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032885" y="4407916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78.1 MHz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90285" y="4407916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52.1 MHz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847469" y="4755388"/>
            <a:ext cx="5650992" cy="914"/>
          </a:xfrm>
          <a:prstGeom prst="line">
            <a:avLst/>
          </a:prstGeom>
          <a:noFill/>
          <a:ln w="6350">
            <a:solidFill>
              <a:srgbClr val="EEE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47469" y="4919980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hop </a:t>
            </a: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032885" y="4919980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约 3.2 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90285" y="4919980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约 3.2 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847469" y="5267452"/>
            <a:ext cx="5650992" cy="914"/>
          </a:xfrm>
          <a:prstGeom prst="line">
            <a:avLst/>
          </a:prstGeom>
          <a:noFill/>
          <a:ln w="6350">
            <a:solidFill>
              <a:srgbClr val="EEE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47469" y="543204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FFT </a:t>
            </a: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网格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032885" y="5432044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约 9.77 MHz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090285" y="5432044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约 9.77 MHz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847469" y="5779516"/>
            <a:ext cx="5650992" cy="914"/>
          </a:xfrm>
          <a:prstGeom prst="line">
            <a:avLst/>
          </a:prstGeom>
          <a:noFill/>
          <a:ln w="6350">
            <a:solidFill>
              <a:srgbClr val="EEE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32885" y="358495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High time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90285" y="358495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Balanced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58200" y="3703320"/>
            <a:ext cx="2487168" cy="1673352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05088" y="3939413"/>
            <a:ext cx="1993392" cy="758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这些数值只对应本次的真实输入。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同一原始数据下，</a:t>
            </a:r>
            <a:r>
              <a:rPr lang="zh-CN" altLang="en-US" sz="29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两组参数</a:t>
            </a:r>
            <a:r>
              <a:rPr lang="en-US" sz="29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强调不同取舍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Balanced 在本次数据的平台区更稳定</a:t>
            </a:r>
            <a:r>
              <a:rPr lang="zh-CN" alt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High time </a:t>
            </a:r>
            <a:r>
              <a:rPr lang="zh-CN" alt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时间分辨率更高</a:t>
            </a:r>
            <a:endParaRPr lang="zh-CN" altLang="en-US" sz="1820" b="1" dirty="0">
              <a:solidFill>
                <a:srgbClr val="8F211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5216" y="1691640"/>
            <a:ext cx="5413248" cy="3273552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9" name="Image 0" descr="Balanced profile 的带脊线分析频谱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875" y="1737360"/>
            <a:ext cx="4889930" cy="2889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" y="4709160"/>
            <a:ext cx="519379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Balanced / channel 1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81344" y="1691640"/>
            <a:ext cx="5413248" cy="3273552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12" name="Image 1" descr="High time resolution profile 的带脊线分析频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003" y="1737360"/>
            <a:ext cx="4889930" cy="2889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91072" y="4709160"/>
            <a:ext cx="519379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High time resolution / channel 1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298448" y="5084064"/>
            <a:ext cx="3840480" cy="283464"/>
          </a:xfrm>
          <a:prstGeom prst="rect">
            <a:avLst/>
          </a:prstGeom>
          <a:solidFill>
            <a:srgbClr val="EEE8E0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80744" y="5102352"/>
            <a:ext cx="36758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本次</a:t>
            </a:r>
            <a:r>
              <a:rPr lang="en-US" sz="115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run / channel 1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138928" y="5084064"/>
            <a:ext cx="2880360" cy="283464"/>
          </a:xfrm>
          <a:prstGeom prst="rect">
            <a:avLst/>
          </a:prstGeom>
          <a:solidFill>
            <a:srgbClr val="EEE8E0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21224" y="5102352"/>
            <a:ext cx="271576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Balanced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19288" y="5084064"/>
            <a:ext cx="2880360" cy="283464"/>
          </a:xfrm>
          <a:prstGeom prst="rect">
            <a:avLst/>
          </a:prstGeom>
          <a:solidFill>
            <a:srgbClr val="EEE8E0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101584" y="5102352"/>
            <a:ext cx="271576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High time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1298448" y="5367528"/>
            <a:ext cx="3840480" cy="28346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380744" y="5385816"/>
            <a:ext cx="36758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首个候选表观速度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138928" y="5367528"/>
            <a:ext cx="2880360" cy="28346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21224" y="5385816"/>
            <a:ext cx="271576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537.9 m/s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019288" y="5367528"/>
            <a:ext cx="2880360" cy="28346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101584" y="5385816"/>
            <a:ext cx="271576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532.0 m/s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1298448" y="5650992"/>
            <a:ext cx="3840480" cy="28346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380744" y="5669280"/>
            <a:ext cx="36758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最大相邻频率步长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138928" y="5650992"/>
            <a:ext cx="2880360" cy="28346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221224" y="5669280"/>
            <a:ext cx="271576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21.8 MHz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019288" y="5650992"/>
            <a:ext cx="2880360" cy="283464"/>
          </a:xfrm>
          <a:prstGeom prst="rect">
            <a:avLst/>
          </a:prstGeom>
          <a:solidFill>
            <a:srgbClr val="F7F2EA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101584" y="5669280"/>
            <a:ext cx="271576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25.0 MHz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1298448" y="5934456"/>
            <a:ext cx="3840480" cy="28346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380744" y="5952744"/>
            <a:ext cx="367588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峰</a:t>
            </a:r>
            <a:r>
              <a:rPr lang="en-US" sz="11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—</a:t>
            </a:r>
            <a:r>
              <a:rPr lang="en-US" sz="1150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背景谱对比度中位数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5138928" y="5934456"/>
            <a:ext cx="2880360" cy="28346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221224" y="5952744"/>
            <a:ext cx="271576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52.5 dB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8019288" y="5934456"/>
            <a:ext cx="2880360" cy="283464"/>
          </a:xfrm>
          <a:prstGeom prst="rect">
            <a:avLst/>
          </a:prstGeom>
          <a:solidFill>
            <a:srgbClr val="FFFDFC"/>
          </a:solidFill>
          <a:ln w="6985">
            <a:solidFill>
              <a:srgbClr val="D6CEC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101584" y="5952744"/>
            <a:ext cx="2715768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48.1 dB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</a:t>
            </a:r>
            <a:r>
              <a:rPr lang="zh-CN" alt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r>
              <a:rPr 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起跳前平台全频率强度低于阈值，速度表现为不存在</a:t>
            </a:r>
            <a:r>
              <a:rPr lang="en-US" sz="20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红色线条</a:t>
            </a:r>
            <a:r>
              <a:rPr lang="en-US" sz="20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664208"/>
            <a:ext cx="8001000" cy="4507992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5916168"/>
            <a:ext cx="778154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Balanced / pdv_channel_1</a:t>
            </a:r>
            <a:r>
              <a:rPr 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：正式</a:t>
            </a:r>
            <a:r>
              <a:rPr lang="zh-CN" alt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速度时间</a:t>
            </a:r>
            <a:r>
              <a:rPr lang="zh-CN" alt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</a:t>
            </a:r>
            <a:endParaRPr lang="zh-CN" altLang="en-US" sz="1050" dirty="0">
              <a:solidFill>
                <a:srgbClr val="69635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851392" y="1883664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326880" y="1874520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正式候选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26880" y="2185416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</a:t>
            </a:r>
            <a:r>
              <a:rPr lang="zh-CN" altLang="en-US" sz="12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有存在高于阈值数据的帧才会进入</a:t>
            </a:r>
            <a:r>
              <a:rPr lang="zh-CN" altLang="en-US" sz="12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</a:t>
            </a:r>
            <a:endParaRPr lang="zh-CN" altLang="en-US" sz="1250" dirty="0">
              <a:solidFill>
                <a:srgbClr val="69635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851392" y="324612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326880" y="3236976"/>
            <a:ext cx="196596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显示零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326880" y="3547872"/>
            <a:ext cx="196596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220" dirty="0">
                <a:solidFill>
                  <a:srgbClr val="69635E"/>
                </a:solidFill>
                <a:latin typeface="Times New Roman" panose="02020603050405020304" pitchFamily="34" charset="0"/>
                <a:ea typeface="微软雅黑" panose="020B0503020204020204" pitchFamily="34" charset="-122"/>
                <a:cs typeface="Times New Roman" panose="02020603050405020304" pitchFamily="34" charset="0"/>
              </a:rPr>
              <a:t>起跳前强度全部低于阈值，此处</a:t>
            </a:r>
            <a:r>
              <a:rPr lang="en-US" sz="1220" dirty="0">
                <a:solidFill>
                  <a:srgbClr val="69635E"/>
                </a:solidFill>
                <a:latin typeface="Times New Roman" panose="02020603050405020304" pitchFamily="34" charset="0"/>
                <a:ea typeface="微软雅黑" panose="020B0503020204020204" pitchFamily="34" charset="-122"/>
                <a:cs typeface="Times New Roman" panose="02020603050405020304" pitchFamily="34" charset="0"/>
              </a:rPr>
              <a:t>假设为</a:t>
            </a:r>
            <a:r>
              <a:rPr lang="en-US" sz="122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0"/>
              </a:rPr>
              <a:t> 0</a:t>
            </a:r>
            <a:r>
              <a:rPr lang="zh-CN" altLang="en-US" sz="1220" dirty="0">
                <a:solidFill>
                  <a:srgbClr val="69635E"/>
                </a:solidFill>
                <a:latin typeface="Times New Roman" panose="02020603050405020304" pitchFamily="34" charset="0"/>
                <a:ea typeface="微软雅黑" panose="020B0503020204020204" pitchFamily="34" charset="-122"/>
                <a:cs typeface="Times New Roman" panose="02020603050405020304" pitchFamily="34" charset="0"/>
                <a:sym typeface="+mn-ea"/>
              </a:rPr>
              <a:t>，</a:t>
            </a:r>
            <a:r>
              <a:rPr lang="en-US" sz="1220" dirty="0">
                <a:solidFill>
                  <a:srgbClr val="69635E"/>
                </a:solidFill>
                <a:latin typeface="Times New Roman" panose="02020603050405020304" pitchFamily="34" charset="0"/>
                <a:ea typeface="微软雅黑" panose="020B0503020204020204" pitchFamily="34" charset="-122"/>
                <a:cs typeface="Times New Roman" panose="02020603050405020304" pitchFamily="34" charset="0"/>
              </a:rPr>
              <a:t>核心量仍为</a:t>
            </a:r>
            <a:r>
              <a:rPr lang="en-US" sz="122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0"/>
              </a:rPr>
              <a:t> NaN</a:t>
            </a:r>
            <a:endParaRPr lang="en-US" sz="1220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21" name="图片 20" descr="apparent_velocity_full_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410" y="1728470"/>
            <a:ext cx="6946900" cy="4105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起跳、平台和下降段分别检查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755648"/>
            <a:ext cx="987552" cy="310896"/>
          </a:xfrm>
          <a:prstGeom prst="rect">
            <a:avLst/>
          </a:prstGeom>
          <a:solidFill>
            <a:srgbClr val="EEE8E0"/>
          </a:solidFill>
          <a:ln w="6350">
            <a:solidFill>
              <a:srgbClr val="D6CE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55648"/>
            <a:ext cx="8412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起跳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3547872" cy="3401568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11" name="Image 0" descr="事件起点附近的表观速度细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906961"/>
            <a:ext cx="3438144" cy="203163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370832" y="1755648"/>
            <a:ext cx="987552" cy="310896"/>
          </a:xfrm>
          <a:prstGeom prst="rect">
            <a:avLst/>
          </a:prstGeom>
          <a:solidFill>
            <a:srgbClr val="F3E7E3"/>
          </a:solidFill>
          <a:ln w="6350">
            <a:solidFill>
              <a:srgbClr val="EBD8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43984" y="1755648"/>
            <a:ext cx="8412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70832" y="2212848"/>
            <a:ext cx="3547872" cy="3401568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16" name="Image 1" descr="平台全貌与逐帧细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547518"/>
            <a:ext cx="3438144" cy="275051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74736" y="1755648"/>
            <a:ext cx="987552" cy="310896"/>
          </a:xfrm>
          <a:prstGeom prst="rect">
            <a:avLst/>
          </a:prstGeom>
          <a:solidFill>
            <a:srgbClr val="EEE8E0"/>
          </a:solidFill>
          <a:ln w="6350">
            <a:solidFill>
              <a:srgbClr val="D6CE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47888" y="1755648"/>
            <a:ext cx="8412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下降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8174736" y="2212848"/>
            <a:ext cx="3547872" cy="3401568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21" name="Image 2" descr="下降段的逐帧表观速度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028859"/>
            <a:ext cx="3438144" cy="17878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CN" alt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</a:t>
            </a:r>
            <a:r>
              <a:rPr 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通道</a:t>
            </a:r>
            <a:r>
              <a:rPr lang="zh-CN" alt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r>
              <a:rPr lang="zh-CN" alt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</a:t>
            </a:r>
            <a:endParaRPr lang="zh-CN" altLang="en-US" sz="3100" b="1" dirty="0">
              <a:solidFill>
                <a:srgbClr val="201E1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287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目前无法双通道</a:t>
            </a:r>
            <a:r>
              <a:rPr 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自动择优</a:t>
            </a:r>
            <a:r>
              <a:rPr lang="zh-CN" alt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，仍需手动选择</a:t>
            </a:r>
            <a:r>
              <a:rPr lang="zh-CN" alt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通道</a:t>
            </a:r>
            <a:endParaRPr lang="zh-CN" altLang="en-US" sz="1820" b="1" dirty="0">
              <a:solidFill>
                <a:srgbClr val="8F211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79321" y="1682623"/>
            <a:ext cx="7726680" cy="4526280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9" name="Image 0" descr="两个采集通道的表观速度对比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185" y="1819051"/>
            <a:ext cx="7616952" cy="39608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CN" altLang="en-US" sz="3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与旧软件直接生成数据图对比</a:t>
            </a:r>
            <a:endParaRPr lang="zh-CN" altLang="en-US" sz="3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84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证明数据</a:t>
            </a:r>
            <a:r>
              <a:rPr lang="zh-CN" altLang="en-US" sz="184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真实性</a:t>
            </a:r>
            <a:endParaRPr lang="zh-CN" altLang="en-US" sz="1840" b="1" dirty="0">
              <a:solidFill>
                <a:srgbClr val="8F211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" y="2304669"/>
            <a:ext cx="5138928" cy="3054096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9" name="Image 0" descr="旧软件导出的速度时间曲线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993" y="2478659"/>
            <a:ext cx="3710525" cy="2670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71616" y="2304669"/>
            <a:ext cx="5138928" cy="3054096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29" name="Image 0" descr="Balanced 通道一的正式全时间表观速度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28240"/>
            <a:ext cx="4749800" cy="28060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已完成部分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软件能稳定复现当前数值过程</a:t>
            </a:r>
            <a:endParaRPr lang="en-US" sz="182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94360" y="1828800"/>
            <a:ext cx="2542032" cy="3063240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94360" y="1828800"/>
            <a:ext cx="2542032" cy="73152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795528" y="2176272"/>
            <a:ext cx="2139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输入与数据</a:t>
            </a:r>
            <a:endParaRPr lang="en-US" sz="1800" dirty="0"/>
          </a:p>
        </p:txBody>
      </p:sp>
      <p:sp>
        <p:nvSpPr>
          <p:cNvPr id="11" name="Shape 9"/>
          <p:cNvSpPr/>
          <p:nvPr>
            <p:custDataLst>
              <p:tags r:id="rId4"/>
            </p:custDataLst>
          </p:nvPr>
        </p:nvSpPr>
        <p:spPr>
          <a:xfrm>
            <a:off x="1289304" y="2633472"/>
            <a:ext cx="1152144" cy="310896"/>
          </a:xfrm>
          <a:prstGeom prst="rect">
            <a:avLst/>
          </a:prstGeom>
          <a:solidFill>
            <a:srgbClr val="F3E7E3"/>
          </a:solidFill>
          <a:ln w="6350">
            <a:solidFill>
              <a:srgbClr val="EBD8D3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1362456" y="2633472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已实现</a:t>
            </a:r>
            <a:endParaRPr lang="en-US" sz="125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832104" y="3200400"/>
            <a:ext cx="2066544" cy="1325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双通道只读输入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SignalRecord 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不可变</a:t>
            </a: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
</a:t>
            </a: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内部计算使用</a:t>
            </a: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SI </a:t>
            </a: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单位</a:t>
            </a:r>
            <a:endParaRPr lang="en-US" sz="1350" dirty="0"/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3364992" y="1828800"/>
            <a:ext cx="2542032" cy="3063240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3364992" y="1828800"/>
            <a:ext cx="2542032" cy="73152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566160" y="2176272"/>
            <a:ext cx="2139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数值方法</a:t>
            </a:r>
            <a:endParaRPr lang="en-US" sz="1800" dirty="0"/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4059936" y="2633472"/>
            <a:ext cx="1152144" cy="310896"/>
          </a:xfrm>
          <a:prstGeom prst="rect">
            <a:avLst/>
          </a:prstGeom>
          <a:solidFill>
            <a:srgbClr val="F3E7E3"/>
          </a:solidFill>
          <a:ln w="6350">
            <a:solidFill>
              <a:srgbClr val="EBD8D3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4133088" y="2633472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已实现</a:t>
            </a:r>
            <a:endParaRPr lang="en-US" sz="125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3602736" y="3200400"/>
            <a:ext cx="2066544" cy="1325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STFT
</a:t>
            </a: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离散峰与亚频点精修</a:t>
            </a: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
</a:t>
            </a: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无符号表观速度</a:t>
            </a:r>
            <a:endParaRPr lang="en-US" sz="1350" dirty="0"/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135624" y="1828800"/>
            <a:ext cx="2542032" cy="3063240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6135624" y="1828800"/>
            <a:ext cx="2542032" cy="73152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336792" y="2176272"/>
            <a:ext cx="2139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运行与输出</a:t>
            </a:r>
            <a:endParaRPr lang="en-US" sz="1800" dirty="0"/>
          </a:p>
        </p:txBody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6830568" y="2633472"/>
            <a:ext cx="1152144" cy="310896"/>
          </a:xfrm>
          <a:prstGeom prst="rect">
            <a:avLst/>
          </a:prstGeom>
          <a:solidFill>
            <a:srgbClr val="F3E7E3"/>
          </a:solidFill>
          <a:ln w="6350">
            <a:solidFill>
              <a:srgbClr val="EBD8D3"/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6903720" y="2633472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已实现</a:t>
            </a:r>
            <a:endParaRPr lang="en-US" sz="1250" dirty="0"/>
          </a:p>
        </p:txBody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6373368" y="3200400"/>
            <a:ext cx="2066544" cy="1325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</a:t>
            </a: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profile </a:t>
            </a: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</a:t>
            </a: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workflow
CSV / PNG / manifest
</a:t>
            </a: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原始数据</a:t>
            </a: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SHA-256</a:t>
            </a:r>
            <a:endParaRPr lang="en-US" sz="1350" dirty="0"/>
          </a:p>
        </p:txBody>
      </p:sp>
      <p:sp>
        <p:nvSpPr>
          <p:cNvPr id="26" name="Shape 24"/>
          <p:cNvSpPr/>
          <p:nvPr>
            <p:custDataLst>
              <p:tags r:id="rId19"/>
            </p:custDataLst>
          </p:nvPr>
        </p:nvSpPr>
        <p:spPr>
          <a:xfrm>
            <a:off x="8906256" y="1828800"/>
            <a:ext cx="2542032" cy="3063240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8906256" y="1828800"/>
            <a:ext cx="2542032" cy="73152"/>
          </a:xfrm>
          <a:prstGeom prst="rect">
            <a:avLst/>
          </a:prstGeom>
          <a:solidFill>
            <a:srgbClr val="9B958E"/>
          </a:solidFill>
          <a:ln w="12700">
            <a:solidFill>
              <a:srgbClr val="9B958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9107424" y="2176272"/>
            <a:ext cx="2139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</a:t>
            </a:r>
            <a:endParaRPr lang="en-US" sz="1800" dirty="0"/>
          </a:p>
        </p:txBody>
      </p:sp>
      <p:sp>
        <p:nvSpPr>
          <p:cNvPr id="29" name="Shape 27"/>
          <p:cNvSpPr/>
          <p:nvPr>
            <p:custDataLst>
              <p:tags r:id="rId22"/>
            </p:custDataLst>
          </p:nvPr>
        </p:nvSpPr>
        <p:spPr>
          <a:xfrm>
            <a:off x="9601200" y="2633472"/>
            <a:ext cx="1152144" cy="310896"/>
          </a:xfrm>
          <a:prstGeom prst="rect">
            <a:avLst/>
          </a:prstGeom>
          <a:solidFill>
            <a:srgbClr val="EEE8E0"/>
          </a:solidFill>
          <a:ln w="6350">
            <a:solidFill>
              <a:srgbClr val="D6CEC4"/>
            </a:solidFill>
            <a:prstDash val="solid"/>
          </a:ln>
        </p:spPr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9674352" y="2633472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初步实现</a:t>
            </a:r>
            <a:endParaRPr lang="en-US" sz="125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9144000" y="3200400"/>
            <a:ext cx="2066544" cy="1325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谱背景与竞争峰对比度</a:t>
            </a: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
</a:t>
            </a: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相邻帧连续性量</a:t>
            </a:r>
            <a:r>
              <a:rPr lang="en-US" sz="13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
</a:t>
            </a:r>
            <a:r>
              <a:rPr lang="en-US" sz="13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相关频率局部证据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5230368"/>
            <a:ext cx="10853928" cy="786384"/>
          </a:xfrm>
          <a:prstGeom prst="rect">
            <a:avLst/>
          </a:prstGeom>
          <a:solidFill>
            <a:srgbClr val="F3E7E3"/>
          </a:solidFill>
          <a:ln w="8255">
            <a:solidFill>
              <a:srgbClr val="EBD8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458968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尚未完成：</a:t>
            </a:r>
            <a:r>
              <a:rPr lang="en-US" sz="152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GUI</a:t>
            </a:r>
            <a:r>
              <a:rPr lang="en-US" sz="15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｜</a:t>
            </a:r>
            <a:r>
              <a:rPr lang="en-US" sz="152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LiF / </a:t>
            </a:r>
            <a:r>
              <a:rPr lang="en-US" sz="15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折射率</a:t>
            </a:r>
            <a:r>
              <a:rPr lang="en-US" sz="152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/ </a:t>
            </a:r>
            <a:r>
              <a:rPr lang="en-US" sz="15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入射角修正｜有符号速度｜经实验验证的分支与可信判据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502920" y="6483096"/>
            <a:ext cx="111099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来源：当前源代码、</a:t>
            </a:r>
            <a:r>
              <a:rPr lang="en-US" sz="10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README</a:t>
            </a:r>
            <a:r>
              <a:rPr 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0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pyproject.toml</a:t>
            </a:r>
            <a:r>
              <a:rPr 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0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PROJECT_STRUCTURE_AND_PARAMETER_AUDIT.md §17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10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当前问题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当前问题集中在物理校正与可信判据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诊断量已经可见，但还没有经实验验证的</a:t>
            </a:r>
            <a:r>
              <a:rPr lang="en-US" sz="182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“</a:t>
            </a:r>
            <a:r>
              <a:rPr 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可用</a:t>
            </a:r>
            <a:r>
              <a:rPr lang="en-US" sz="182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/ </a:t>
            </a:r>
            <a:r>
              <a:rPr 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不可用</a:t>
            </a:r>
            <a:r>
              <a:rPr lang="en-US" sz="182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”</a:t>
            </a:r>
            <a:r>
              <a:rPr lang="en-US" sz="18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规则。</a:t>
            </a:r>
            <a:endParaRPr lang="en-US" sz="1820" dirty="0"/>
          </a:p>
        </p:txBody>
      </p:sp>
      <p:sp>
        <p:nvSpPr>
          <p:cNvPr id="8" name="Shape 6"/>
          <p:cNvSpPr/>
          <p:nvPr/>
        </p:nvSpPr>
        <p:spPr>
          <a:xfrm>
            <a:off x="566928" y="1700784"/>
            <a:ext cx="6995160" cy="4407408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pic>
        <p:nvPicPr>
          <p:cNvPr id="9" name="Image 0" descr="两个通道的逐帧谱质量诊断对比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718" y="1746504"/>
            <a:ext cx="5783580" cy="4023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5852160"/>
            <a:ext cx="6775704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两通道逐帧谱对比度；只描述频谱结构，不是</a:t>
            </a:r>
            <a:r>
              <a:rPr lang="en-US" sz="10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SNR </a:t>
            </a:r>
            <a:r>
              <a:rPr 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或准确度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82128" y="1810512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394192" y="18105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波长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94192" y="2121408"/>
            <a:ext cx="2724912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1.55 µm </a:t>
            </a:r>
            <a:r>
              <a:rPr lang="en-US" sz="124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尚未由实验记录确认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8394192" y="2670048"/>
            <a:ext cx="2724912" cy="914"/>
          </a:xfrm>
          <a:prstGeom prst="line">
            <a:avLst/>
          </a:prstGeom>
          <a:noFill/>
          <a:ln w="6985">
            <a:solidFill>
              <a:srgbClr val="D6CE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82128" y="2889504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94192" y="288950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物理修正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94192" y="3200400"/>
            <a:ext cx="2724912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LiF</a:t>
            </a:r>
            <a:r>
              <a:rPr lang="en-US" sz="124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、折射率、入射角与不确定度模型未接入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8394192" y="3749040"/>
            <a:ext cx="2724912" cy="914"/>
          </a:xfrm>
          <a:prstGeom prst="line">
            <a:avLst/>
          </a:prstGeom>
          <a:noFill/>
          <a:ln w="6985">
            <a:solidFill>
              <a:srgbClr val="D6CE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82128" y="396849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94192" y="396849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判据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94192" y="4279392"/>
            <a:ext cx="2724912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谱对比度和连续性不等于分支正确或可信度</a:t>
            </a:r>
            <a:endParaRPr lang="en-US" sz="1240" dirty="0"/>
          </a:p>
        </p:txBody>
      </p:sp>
      <p:sp>
        <p:nvSpPr>
          <p:cNvPr id="22" name="Shape 19"/>
          <p:cNvSpPr/>
          <p:nvPr/>
        </p:nvSpPr>
        <p:spPr>
          <a:xfrm>
            <a:off x="8394192" y="4828032"/>
            <a:ext cx="2724912" cy="914"/>
          </a:xfrm>
          <a:prstGeom prst="line">
            <a:avLst/>
          </a:prstGeom>
          <a:noFill/>
          <a:ln w="6985">
            <a:solidFill>
              <a:srgbClr val="D6CE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82128" y="5047488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94192" y="504748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历史材料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394192" y="5358384"/>
            <a:ext cx="2724912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旧软件来源、参数和处理步骤仍待确认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8394192" y="5907024"/>
            <a:ext cx="2724912" cy="914"/>
          </a:xfrm>
          <a:prstGeom prst="line">
            <a:avLst/>
          </a:prstGeom>
          <a:noFill/>
          <a:ln w="6985">
            <a:solidFill>
              <a:srgbClr val="D6CE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483096"/>
            <a:ext cx="111099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来源：</a:t>
            </a:r>
            <a:r>
              <a:rPr lang="en-US" sz="105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balanced_diagnostic/two_channel_spectral_quality_comparison.png</a:t>
            </a:r>
            <a:r>
              <a:rPr 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；当前配置与源代码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10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按证据依赖顺序推进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37392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3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先确认实验元数据和判据，再实现物理修正，最后完善界面与部署。</a:t>
            </a:r>
            <a:endParaRPr lang="en-US" sz="1830" dirty="0"/>
          </a:p>
        </p:txBody>
      </p:sp>
      <p:sp>
        <p:nvSpPr>
          <p:cNvPr id="8" name="Shape 6"/>
          <p:cNvSpPr/>
          <p:nvPr/>
        </p:nvSpPr>
        <p:spPr>
          <a:xfrm>
            <a:off x="1024128" y="2944368"/>
            <a:ext cx="9802368" cy="914"/>
          </a:xfrm>
          <a:prstGeom prst="line">
            <a:avLst/>
          </a:prstGeom>
          <a:noFill/>
          <a:ln w="12700">
            <a:solidFill>
              <a:srgbClr val="D6CE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2843784"/>
            <a:ext cx="164592" cy="201168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84832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" y="331927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固化实验元数据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" y="3803904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波长、窗口材料、几何条件、时间基准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3419856" y="2843784"/>
            <a:ext cx="164592" cy="201168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084832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97480" y="331927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建立复核记录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3803904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多数据集人工复核与分支判据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5632704" y="2843784"/>
            <a:ext cx="164592" cy="201168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084832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10328" y="331927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实现物理修正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10328" y="3803904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公式、单位、参数来源与不确定度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7845552" y="2843784"/>
            <a:ext cx="164592" cy="201168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0336" y="2084832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23176" y="331927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验证失效案例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23176" y="3803904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双通道、双</a:t>
            </a:r>
            <a:r>
              <a:rPr lang="en-US" sz="124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profile</a:t>
            </a:r>
            <a:r>
              <a:rPr lang="en-US" sz="124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、重复性与异常数据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10058400" y="2843784"/>
            <a:ext cx="164592" cy="201168"/>
          </a:xfrm>
          <a:prstGeom prst="rect">
            <a:avLst/>
          </a:prstGeom>
          <a:solidFill>
            <a:srgbClr val="9B958E"/>
          </a:solidFill>
          <a:ln w="12700">
            <a:solidFill>
              <a:srgbClr val="9B958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73184" y="2084832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958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36024" y="331927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</a:t>
            </a:r>
            <a:r>
              <a:rPr lang="en-US" sz="16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GUI </a:t>
            </a:r>
            <a:r>
              <a:rPr lang="en-US" sz="16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与部署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36024" y="3803904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判据稳定后再做界面、打包和用户测试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1042416" y="5138928"/>
            <a:ext cx="9765792" cy="786384"/>
          </a:xfrm>
          <a:prstGeom prst="rect">
            <a:avLst/>
          </a:prstGeom>
          <a:solidFill>
            <a:srgbClr val="FFFDFC"/>
          </a:solidFill>
          <a:ln w="8255">
            <a:solidFill>
              <a:srgbClr val="D6CE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5376672"/>
            <a:ext cx="925372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依赖关系：实验元数据</a:t>
            </a:r>
            <a:r>
              <a:rPr lang="en-US" sz="152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→ </a:t>
            </a:r>
            <a:r>
              <a:rPr lang="en-US" sz="15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判据</a:t>
            </a:r>
            <a:r>
              <a:rPr lang="en-US" sz="152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→ </a:t>
            </a:r>
            <a:r>
              <a:rPr lang="en-US" sz="15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修正模型</a:t>
            </a:r>
            <a:r>
              <a:rPr lang="en-US" sz="152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→ </a:t>
            </a:r>
            <a:r>
              <a:rPr lang="en-US" sz="15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多数据验证</a:t>
            </a:r>
            <a:r>
              <a:rPr lang="en-US" sz="1520" b="1" dirty="0">
                <a:solidFill>
                  <a:srgbClr val="8F211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→ GUI / </a:t>
            </a:r>
            <a:r>
              <a:rPr lang="en-US" sz="152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502920" y="6483096"/>
            <a:ext cx="111099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先证据，后物理修正；判据稳定后再扩大软件交付范围。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6858000"/>
          </a:xfrm>
          <a:prstGeom prst="rect">
            <a:avLst/>
          </a:prstGeom>
          <a:solidFill>
            <a:srgbClr val="8F2118"/>
          </a:solidFill>
          <a:ln w="12700">
            <a:solidFill>
              <a:srgbClr val="8F211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6035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40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1078992"/>
            <a:ext cx="8869680" cy="11704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已经能复现表观速度；</a:t>
            </a:r>
            <a:r>
              <a:rPr lang="en-US" sz="32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
</a:t>
            </a:r>
            <a:r>
              <a:rPr lang="en-US" sz="32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科研解释仍需验证。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7980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65376" y="2944368"/>
            <a:ext cx="420624" cy="914"/>
          </a:xfrm>
          <a:prstGeom prst="line">
            <a:avLst/>
          </a:prstGeom>
          <a:noFill/>
          <a:ln w="12700">
            <a:solidFill>
              <a:srgbClr val="8F21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2770632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真实双通道输入、正式</a:t>
            </a:r>
            <a:r>
              <a:rPr lang="en-US" sz="18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STFT / </a:t>
            </a:r>
            <a:r>
              <a:rPr lang="en-US" sz="18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脊线</a:t>
            </a:r>
            <a:r>
              <a:rPr lang="en-US" sz="18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/ </a:t>
            </a:r>
            <a:r>
              <a:rPr lang="en-US" sz="18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亚频点精修、表观速度与可追溯输出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5818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963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65376" y="3904488"/>
            <a:ext cx="420624" cy="914"/>
          </a:xfrm>
          <a:prstGeom prst="line">
            <a:avLst/>
          </a:prstGeom>
          <a:noFill/>
          <a:ln w="12700">
            <a:solidFill>
              <a:srgbClr val="9B95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730752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临时波长、无</a:t>
            </a:r>
            <a:r>
              <a:rPr lang="en-US" sz="1800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LiF </a:t>
            </a:r>
            <a:r>
              <a:rPr lang="en-US" sz="1800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修正、无符号、无自动通道选择与物理可信判据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71830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65376" y="4864608"/>
            <a:ext cx="420624" cy="914"/>
          </a:xfrm>
          <a:prstGeom prst="line">
            <a:avLst/>
          </a:prstGeom>
          <a:noFill/>
          <a:ln w="12700">
            <a:solidFill>
              <a:srgbClr val="8F21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4690872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01E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先补实验元数据与判据，再推进修正模型和</a:t>
            </a:r>
            <a:r>
              <a:rPr lang="en-US" sz="1800" b="1" dirty="0">
                <a:solidFill>
                  <a:srgbClr val="201E1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GUI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1248" y="5897880"/>
            <a:ext cx="10149840" cy="914"/>
          </a:xfrm>
          <a:prstGeom prst="line">
            <a:avLst/>
          </a:prstGeom>
          <a:noFill/>
          <a:ln w="10160">
            <a:solidFill>
              <a:srgbClr val="D6CE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6144768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21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请老师批评指正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58784" y="615391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9635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DPS Studio · 2026.07.26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8.32,&quot;left&quot;:609.1,&quot;top&quot;:162,&quot;width&quot;:281.53999999999996}"/>
</p:tagLst>
</file>

<file path=ppt/tags/tag2.xml><?xml version="1.0" encoding="utf-8"?>
<p:tagLst xmlns:p="http://schemas.openxmlformats.org/presentationml/2006/main">
  <p:tag name="KSO_WM_DIAGRAM_VIRTUALLY_FRAME" val="{&quot;height&quot;:238.32,&quot;left&quot;:609.1,&quot;top&quot;:162,&quot;width&quot;:281.53999999999996}"/>
</p:tagLst>
</file>

<file path=ppt/tags/tag3.xml><?xml version="1.0" encoding="utf-8"?>
<p:tagLst xmlns:p="http://schemas.openxmlformats.org/presentationml/2006/main">
  <p:tag name="KSO_WM_DIAGRAM_VIRTUALLY_FRAME" val="{&quot;height&quot;:238.32,&quot;left&quot;:609.1,&quot;top&quot;:162,&quot;width&quot;:281.53999999999996}"/>
</p:tagLst>
</file>

<file path=ppt/tags/tag4.xml><?xml version="1.0" encoding="utf-8"?>
<p:tagLst xmlns:p="http://schemas.openxmlformats.org/presentationml/2006/main">
  <p:tag name="KSO_WM_DIAGRAM_VIRTUALLY_FRAME" val="{&quot;height&quot;:238.32,&quot;left&quot;:609.1,&quot;top&quot;:162,&quot;width&quot;:281.53999999999996}"/>
</p:tagLst>
</file>

<file path=ppt/tags/tag5.xml><?xml version="1.0" encoding="utf-8"?>
<p:tagLst xmlns:p="http://schemas.openxmlformats.org/presentationml/2006/main">
  <p:tag name="KSO_WM_DIAGRAM_VIRTUALLY_FRAME" val="{&quot;height&quot;:238.32,&quot;left&quot;:609.1,&quot;top&quot;:162,&quot;width&quot;:281.53999999999996}"/>
</p:tagLst>
</file>

<file path=ppt/tags/tag6.xml><?xml version="1.0" encoding="utf-8"?>
<p:tagLst xmlns:p="http://schemas.openxmlformats.org/presentationml/2006/main">
  <p:tag name="KSO_WM_DIAGRAM_VIRTUALLY_FRAME" val="{&quot;height&quot;:238.32,&quot;left&quot;:609.1,&quot;top&quot;:162,&quot;width&quot;:281.53999999999996}"/>
</p:tagLst>
</file>

<file path=ppt/tags/tag7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8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9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10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11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12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13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14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15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16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17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18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19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20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21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22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23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24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25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26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27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28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29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ags/tag30.xml><?xml version="1.0" encoding="utf-8"?>
<p:tagLst xmlns:p="http://schemas.openxmlformats.org/presentationml/2006/main">
  <p:tag name="KSO_WM_DIAGRAM_VIRTUALLY_FRAME" val="{&quot;height&quot;:241.2,&quot;left&quot;:46.8,&quot;top&quot;:144,&quot;width&quot;:854.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2642</Words>
  <Application>WPS 演示</Application>
  <PresentationFormat>On-screen Show (16:9)</PresentationFormat>
  <Paragraphs>375</Paragraphs>
  <Slides>17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Times New Roman</vt:lpstr>
      <vt:lpstr>Times New Roman</vt:lpstr>
      <vt:lpstr>Times New Roman</vt:lpstr>
      <vt:lpstr>微软雅黑</vt:lpstr>
      <vt:lpstr>微软雅黑</vt:lpstr>
      <vt:lpstr>Consolas</vt:lpstr>
      <vt:lpstr>Consolas</vt:lpstr>
      <vt:lpstr>Consolas</vt:lpstr>
      <vt:lpstr>Arial Unicode MS</vt:lpstr>
      <vt:lpstr>等线</vt:lpstr>
      <vt:lpstr>Cambria Math</vt:lpstr>
      <vt:lpstr>MS Mincho</vt:lpstr>
      <vt:lpstr>SWAstro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DPS Studio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DPS Studio：从原始 PDV 信号到可追溯的表观速度</dc:title>
  <dc:creator>DPS Studio</dc:creator>
  <dc:subject>DPS Studio 课题组组会汇报</dc:subject>
  <cp:lastModifiedBy>x</cp:lastModifiedBy>
  <cp:revision>7</cp:revision>
  <dcterms:created xsi:type="dcterms:W3CDTF">2026-07-26T03:22:00Z</dcterms:created>
  <dcterms:modified xsi:type="dcterms:W3CDTF">2026-07-27T04:14:27Z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55B0772B6AFD44E18876EDD68AFAC75A_12</vt:lpwstr>
  </property>
</Properties>
</file>